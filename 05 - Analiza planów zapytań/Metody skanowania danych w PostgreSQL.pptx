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68" d="100"/>
          <a:sy n="168" d="100"/>
        </p:scale>
        <p:origin x="38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zemyslaw Starosta" userId="45f988447864b3e6" providerId="LiveId" clId="{F03EAEFD-908B-4458-9CFE-E641CAF539F5}"/>
    <pc:docChg chg="modSld">
      <pc:chgData name="Przemyslaw Starosta" userId="45f988447864b3e6" providerId="LiveId" clId="{F03EAEFD-908B-4458-9CFE-E641CAF539F5}" dt="2026-09-15T08:40:25.036" v="0" actId="20577"/>
      <pc:docMkLst>
        <pc:docMk/>
      </pc:docMkLst>
      <pc:sldChg chg="modSp mod">
        <pc:chgData name="Przemyslaw Starosta" userId="45f988447864b3e6" providerId="LiveId" clId="{F03EAEFD-908B-4458-9CFE-E641CAF539F5}" dt="2026-09-15T08:40:25.036" v="0" actId="20577"/>
        <pc:sldMkLst>
          <pc:docMk/>
          <pc:sldMk cId="0" sldId="259"/>
        </pc:sldMkLst>
        <pc:spChg chg="mod">
          <ac:chgData name="Przemyslaw Starosta" userId="45f988447864b3e6" providerId="LiveId" clId="{F03EAEFD-908B-4458-9CFE-E641CAF539F5}" dt="2026-09-15T08:40:25.036" v="0" actId="20577"/>
          <ac:spMkLst>
            <pc:docMk/>
            <pc:sldMk cId="0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529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· QUERY PLANNER</a:t>
            </a:r>
            <a:endParaRPr lang="en-US" sz="1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Metody skanowania danych w PostgreSQL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880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 Scan, Bitmap Scan, Seq Scan i operatory planu wykonania</a:t>
            </a:r>
            <a:endParaRPr lang="en-US" sz="1500" dirty="0"/>
          </a:p>
        </p:txBody>
      </p:sp>
      <p:sp>
        <p:nvSpPr>
          <p:cNvPr id="6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429000"/>
            <a:ext cx="10972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Optymalizator wybiera najtańszą ścieżkę dostępu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WPROWADZENIE</a:t>
            </a:r>
            <a:endParaRPr lang="en-US" sz="9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969264"/>
            <a:ext cx="4572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Planner / Optimizer wyznacza optymalną ścieżkę dostępu do danych na podstawie statystyk tabeli, kosztów operacji I/O oraz dostępnych indeksów.</a:t>
            </a:r>
            <a:endParaRPr lang="en-US" sz="1400" dirty="0"/>
          </a:p>
        </p:txBody>
      </p:sp>
      <p:sp>
        <p:nvSpPr>
          <p:cNvPr id="6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965960"/>
            <a:ext cx="2496312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965960"/>
            <a:ext cx="54864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Statystyki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Rozkład wartości i szacowana liczba wierszy</a:t>
            </a:r>
            <a:endParaRPr lang="en-US" sz="1100" dirty="0"/>
          </a:p>
        </p:txBody>
      </p:sp>
      <p:sp>
        <p:nvSpPr>
          <p:cNvPr id="10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9272" y="1965960"/>
            <a:ext cx="2496312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9272" y="1965960"/>
            <a:ext cx="54864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3547872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Koszt I/O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47872" y="2468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seq_page_cost vs random_page_cost</a:t>
            </a:r>
            <a:endParaRPr lang="en-US" sz="1100" dirty="0"/>
          </a:p>
        </p:txBody>
      </p:sp>
      <p:sp>
        <p:nvSpPr>
          <p:cNvPr id="1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8464" y="1965960"/>
            <a:ext cx="2496312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8464" y="1965960"/>
            <a:ext cx="54864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6227064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Indeksy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27064" y="2468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Dostępność i pokrycie warunków WHERE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474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 zależności od selektywności warunków WHERE silnik wybiera pełny odczyt tabeli, skan indeksu lub dwuetapowy mechanizm bitmapowy.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 Scan — sekwencyjny odczyt całej tabeli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SEQ SCAN</a:t>
            </a:r>
            <a:endParaRPr lang="en-US" sz="9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969264"/>
            <a:ext cx="4572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Pełny odczyt tabeli blok po bloku: silnik czyta każdy rekord ze sterty (heap) i aplikuje predykat filtrujący.</a:t>
            </a:r>
            <a:endParaRPr lang="en-US" sz="1400" dirty="0"/>
          </a:p>
        </p:txBody>
      </p:sp>
      <p:sp>
        <p:nvSpPr>
          <p:cNvPr id="6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91640"/>
            <a:ext cx="786384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822960" y="1764792"/>
            <a:ext cx="7498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 Scan on users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Filter: (status = 'active')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Kiedy planista wybiera Seq Scan?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Mała tabela — narzut na odczyt struktury B-drzewa przewyższa koszt załadowania kilku stron danych.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Brak indeksu wspierającego dany warunek.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Niska selektywność — warunek zwraca powyżej ok. 15–30% wierszy; odczyt sekwencyjny korzysta z prefetchingu OS/dysku i jest tańszy niż tysiące losowych odwołań.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 Scan — przejście po drzewie i odczyt ze sterty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INDEX SCAN</a:t>
            </a:r>
            <a:endParaRPr lang="en-US" sz="9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969264"/>
            <a:ext cx="4572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Przeszukanie indeksu (np. B-Tree), pobranie identyfikatorów </a:t>
            </a:r>
            <a:r>
              <a:rPr lang="en-US" sz="14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wierszy</a:t>
            </a: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</a:t>
            </a:r>
            <a:r>
              <a:rPr lang="pl-PL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ID: numer bloku + offset) i natychmiastowy odczyt wiersza z tabeli.</a:t>
            </a:r>
            <a:endParaRPr lang="en-US" sz="1400" dirty="0"/>
          </a:p>
        </p:txBody>
      </p:sp>
      <p:sp>
        <p:nvSpPr>
          <p:cNvPr id="6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91640"/>
            <a:ext cx="786384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822960" y="1764792"/>
            <a:ext cx="7498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Scan using users_email_idx on users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 Cond: (email = 'a@example.com')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Cechy charakterystyczne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Bardzo wysoka selektywność — idealny dla kluczy głównych, unikalnych i wąskich zakresów.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Kolejność wierszy zgodna z porządkiem indeksu — pozwala uniknąć sortowania przy ORDER BY.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Ryzyko Random I/O — przy wielu wierszach rozproszonych po tabeli kosztowne skakanie po dysku.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 Only Scan — odpowiedź bez </a:t>
            </a:r>
            <a:r>
              <a:rPr lang="en-US" sz="2400" b="1" dirty="0" err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dotykania</a:t>
            </a: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pl-PL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tabeli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INDEX ONLY SCAN</a:t>
            </a:r>
            <a:endParaRPr lang="en-US" sz="9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969264"/>
            <a:ext cx="4572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Wariant, w którym wszystkie kolumny wymagane przez zapytanie (WHERE i SELECT) znajdują się w samym indeksie lub w sekcji INCLUDE.</a:t>
            </a:r>
            <a:endParaRPr lang="en-US" sz="1400" dirty="0"/>
          </a:p>
        </p:txBody>
      </p:sp>
      <p:sp>
        <p:nvSpPr>
          <p:cNvPr id="6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91640"/>
            <a:ext cx="786384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822960" y="1764792"/>
            <a:ext cx="7498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Only Scan using users_email_name_idx on users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 Cond: (email = 'a@example.com')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Heap Fetches: 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Mechanizm Visibility Map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 modelu MVCC indeks nie przechowuje informacji o widoczności wiersza dla transakcji.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sprawdza mapę widoczności — jeśli blok jest all-visible, odczyt ze sterty nie następuje.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Wskaźnik Heap Fetches: 0 w planie EXPLAIN potwierdza idealną optymalizację.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Bitmap Scan — dwuetapowa technika hybrydowa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BITMAP INDEX + HEAP SCAN</a:t>
            </a:r>
            <a:endParaRPr lang="en-US" sz="9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969264"/>
            <a:ext cx="4572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Dla przypadków pośrednich: zbyt wiele wierszy na zwykły Index Scan, zbyt mało, by uzasadnić Seq Scan.</a:t>
            </a:r>
            <a:endParaRPr lang="en-US" sz="1400" dirty="0"/>
          </a:p>
        </p:txBody>
      </p:sp>
      <p:sp>
        <p:nvSpPr>
          <p:cNvPr id="6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45920"/>
            <a:ext cx="7863840" cy="1234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822960" y="1719072"/>
            <a:ext cx="74980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Bitmap Heap Scan on users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Recheck Cond: (status = 'active')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Bitmap Index Scan on users_status_idx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Index Cond: (status = 'active')</a:t>
            </a:r>
            <a:endParaRPr lang="en-US" sz="1200" dirty="0"/>
          </a:p>
        </p:txBody>
      </p:sp>
      <p:sp>
        <p:nvSpPr>
          <p:cNvPr id="8" name="Step 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108960"/>
            <a:ext cx="3822192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Ste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108960"/>
            <a:ext cx="54864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868680" y="32735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Krok 1 — Bitmap Index Scan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56616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Silnik przeszukuje indeks i zamiast sięgać do tabeli buduje w work_mem mapę bitową (TID Bitmap) ze stronami i pozycjami pasujących wierszy.</a:t>
            </a:r>
            <a:endParaRPr lang="en-US" sz="1100" dirty="0"/>
          </a:p>
        </p:txBody>
      </p:sp>
      <p:sp>
        <p:nvSpPr>
          <p:cNvPr id="12" name="Step 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3108960"/>
            <a:ext cx="3822192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Ste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3108960"/>
            <a:ext cx="54864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4910328" y="32735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Krok 2 — Bitmap Heap Scan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0328" y="356616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Operator sortuje identyfikatory bloków według fizycznej kolejności w pliku tabeli i czyta je sekwencyjnie — Random I/O zamienia się w Sequential I/O.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Recheck Cond i stratne mapy bitowe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LOSSY BITMAPS</a:t>
            </a:r>
            <a:endParaRPr lang="en-US" sz="9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969264"/>
            <a:ext cx="4572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 przekroczeniu limitu work_mem bitmapa przechodzi w tryb stratny (lossy).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Zamiast precyzyjnych pozycji wierszy oznaczany jest cały blok jako potencjalnie pasujący.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Bitmap Heap Scan ładuje wtedy całą stronę i ponownie testuje warunek — za to odpowiada Recheck Cond.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 planie EXPLAIN pojawia się statystyka Rows Removed by Index Recheck.</a:t>
            </a:r>
            <a:endParaRPr lang="en-US" sz="1350" dirty="0"/>
          </a:p>
        </p:txBody>
      </p:sp>
      <p:sp>
        <p:nvSpPr>
          <p:cNvPr id="6" name="Note box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926080"/>
            <a:ext cx="7863840" cy="1508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No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926080"/>
            <a:ext cx="54864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Zaletą jest łączenie indeksów: BitmapAnd / BitmapOr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Bitmap Index Scan jest fundamentem operacji BitmapAnd oraz BitmapOr. PostgreSQL może w locie połączyć wyniki z dwóch całkowicie niezależnych indeksów jednokolumnowych (np. status i country), wykonując operację bitową AND/OR na poziomie bitmap, a dopiero potem sięgnąć do tabeli.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Zestawienie porównawcze metod skanowania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· PORÓWNANIE</a:t>
            </a:r>
            <a:endParaRPr lang="en-US" sz="9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969264"/>
            <a:ext cx="4572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7863840" cy="2980944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 skanowania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Selektywność / liczba wierszy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Dostęp do sterty (Heap)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 BY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Seq Scan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Wysoki odsetek wierszy (&gt;20–30%) lub mała tabela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Sekwencyjny odczyt wszystkich stron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Brak (chyba że wymuszone sortowaniem)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Index Scan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Bardzo wysoka selektywność (&lt;1–5% wierszy)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Bezpośredni odczyt wierszy (często Random I/O)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Tak (zgodna z porządkiem indeksu)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Index Only Scan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Dowolna, jeśli indeks zawiera wszystkie kolumny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Znikomy (weryfikacja w Visibility Map)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Tak (zgodna z porządkiem indeksu)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Bitmap Scan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Umiarkowana (kilka–kilkanaście %)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Uporządkowany odczyt stron (Sequential I/O)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Brak (kolejność fizyczna bloków)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Warianty równoległe — Parallel Scans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· INNE OPERACJE</a:t>
            </a:r>
            <a:endParaRPr lang="en-US" sz="9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969264"/>
            <a:ext cx="4572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 nowoczesnych wersjach PostgreSQL planista dzieli pracę pomiędzy procesy robocze (background workers).</a:t>
            </a:r>
            <a:endParaRPr lang="en-US" sz="1400" dirty="0"/>
          </a:p>
        </p:txBody>
      </p:sp>
      <p:sp>
        <p:nvSpPr>
          <p:cNvPr id="6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783080"/>
            <a:ext cx="786384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783080"/>
            <a:ext cx="54864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868680" y="183794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 Seq Scan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83794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Robotnicy dzielą między siebie strony tabeli.</a:t>
            </a:r>
            <a:endParaRPr lang="en-US" sz="1150" dirty="0"/>
          </a:p>
        </p:txBody>
      </p:sp>
      <p:sp>
        <p:nvSpPr>
          <p:cNvPr id="10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786384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54864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868680" y="26151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 Index Scan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61518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Robotnicy równolegle przeszukują strukturę indeksu.</a:t>
            </a:r>
            <a:endParaRPr lang="en-US" sz="1150" dirty="0"/>
          </a:p>
        </p:txBody>
      </p:sp>
      <p:sp>
        <p:nvSpPr>
          <p:cNvPr id="14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337560"/>
            <a:ext cx="786384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337560"/>
            <a:ext cx="54864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868680" y="33924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 Bitmap Heap Scan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39242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Bitmapa współdzielona lub przetwarzana równolegle przez wielu robotników odczytujących strony sterty.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Operatory te występują w planie pod węzłami Gather lub Gather Merge.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Praktyczne wskazówki diagnostyczne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· DIAGNOSTYKA</a:t>
            </a:r>
            <a:endParaRPr lang="en-US" sz="9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969264"/>
            <a:ext cx="4572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Aby precyzyjnie ocenić działanie skanu, uruchamiaj zapytanie z pełnymi statystykami buforów:</a:t>
            </a:r>
            <a:endParaRPr lang="en-US" sz="1400" dirty="0"/>
          </a:p>
        </p:txBody>
      </p:sp>
      <p:sp>
        <p:nvSpPr>
          <p:cNvPr id="6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45920"/>
            <a:ext cx="786384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822960" y="1719072"/>
            <a:ext cx="7498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(ANALYZE, BUFFERS, VERBOSE)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orders WHERE customer_id = 123;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Kluczowe metryki do analizy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Hit vs Shared Read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94760" y="30175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Strony pobrane z pamięci RAM (cache) vs odczytane fizycznie z dysku.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Rows Removed by Filter / Recheck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94760" y="35661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Ile danych trzeba było odrzucić po załadowaniu ze sterty.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work_mem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94760" y="4114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Zwiększenie parametru zapobiega degradacji Bitmap Index Scan do postaci stratnej.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964</Words>
  <Application>Microsoft Office PowerPoint</Application>
  <PresentationFormat>Pokaz na ekranie (16:9)</PresentationFormat>
  <Paragraphs>117</Paragraphs>
  <Slides>10</Slides>
  <Notes>10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Segoe UI</vt:lpstr>
      <vt:lpstr>Office Theme</vt:lpstr>
      <vt:lpstr>Metody skanowania danych w PostgreSQL</vt:lpstr>
      <vt:lpstr>Optymalizator wybiera najtańszą ścieżkę dostępu</vt:lpstr>
      <vt:lpstr>Seq Scan — sekwencyjny odczyt całej tabeli</vt:lpstr>
      <vt:lpstr>Index Scan — przejście po drzewie i odczyt ze sterty</vt:lpstr>
      <vt:lpstr>Index Only Scan — odpowiedź bez dotykania tabeli</vt:lpstr>
      <vt:lpstr>Bitmap Scan — dwuetapowa technika hybrydowa</vt:lpstr>
      <vt:lpstr>Recheck Cond i stratne mapy bitowe</vt:lpstr>
      <vt:lpstr>Zestawienie porównawcze metod skanowania</vt:lpstr>
      <vt:lpstr>Warianty równoległe — Parallel Scans</vt:lpstr>
      <vt:lpstr>Praktyczne wskazówki diagnostyczne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Przemysław Starosta</dc:creator>
  <cp:lastModifiedBy>Przemysław Starosta</cp:lastModifiedBy>
  <cp:revision>1</cp:revision>
  <dcterms:created xsi:type="dcterms:W3CDTF">2026-09-14T18:24:32Z</dcterms:created>
  <dcterms:modified xsi:type="dcterms:W3CDTF">2026-09-15T08:40:33Z</dcterms:modified>
</cp:coreProperties>
</file>