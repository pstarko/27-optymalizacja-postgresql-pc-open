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4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undo custSel addSld delSld modSld sldOrd">
      <pc:chgData name="Przemyslaw Starosta" userId="45f988447864b3e6" providerId="LiveId" clId="{F03EAEFD-908B-4458-9CFE-E641CAF539F5}" dt="2026-09-14T08:02:17.997" v="556" actId="1076"/>
      <pc:docMkLst>
        <pc:docMk/>
      </pc:docMkLst>
      <pc:sldChg chg="modSp mod">
        <pc:chgData name="Przemyslaw Starosta" userId="45f988447864b3e6" providerId="LiveId" clId="{F03EAEFD-908B-4458-9CFE-E641CAF539F5}" dt="2026-09-11T11:21:10.970" v="555" actId="20577"/>
        <pc:sldMkLst>
          <pc:docMk/>
          <pc:sldMk cId="1376992144" sldId="256"/>
        </pc:sldMkLst>
        <pc:spChg chg="mod">
          <ac:chgData name="Przemyslaw Starosta" userId="45f988447864b3e6" providerId="LiveId" clId="{F03EAEFD-908B-4458-9CFE-E641CAF539F5}" dt="2026-09-11T11:21:10.970" v="555" actId="20577"/>
          <ac:spMkLst>
            <pc:docMk/>
            <pc:sldMk cId="1376992144" sldId="256"/>
            <ac:spMk id="3" creationId="{E3D529A4-F818-4D84-9E66-E8A8811E699A}"/>
          </ac:spMkLst>
        </pc:spChg>
      </pc:sldChg>
      <pc:sldChg chg="modSp mod">
        <pc:chgData name="Przemyslaw Starosta" userId="45f988447864b3e6" providerId="LiveId" clId="{F03EAEFD-908B-4458-9CFE-E641CAF539F5}" dt="2026-09-14T08:02:17.997" v="556" actId="1076"/>
        <pc:sldMkLst>
          <pc:docMk/>
          <pc:sldMk cId="2682124241" sldId="301"/>
        </pc:sldMkLst>
        <pc:spChg chg="mod">
          <ac:chgData name="Przemyslaw Starosta" userId="45f988447864b3e6" providerId="LiveId" clId="{F03EAEFD-908B-4458-9CFE-E641CAF539F5}" dt="2026-09-14T08:02:17.997" v="556" actId="1076"/>
          <ac:spMkLst>
            <pc:docMk/>
            <pc:sldMk cId="2682124241" sldId="301"/>
            <ac:spMk id="9" creationId="{12FD3B40-547E-2080-F0AF-899094A1B7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2DC5AF-B543-4F4C-A69A-23911853D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27B3B49-084E-4C38-A31E-83548FC44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568D106-BA70-48E7-899D-E96522CE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6C5E56-744C-4B75-9176-6D4196B8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BF19CBA-F514-4146-92C7-A4F317E4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467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0E453A-5A4D-4149-AA5D-94F50E25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37411F-9D65-4C3B-84B2-8B774771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E480DA-9007-446D-A086-8CF69E4C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C3DE4BF-58AF-4CB0-BC68-DFE9CABB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BF94C5-22C2-4123-BA05-C9E66166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953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3B5980-C5FE-4F6B-A30F-7740D8E2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AA43D91-113C-4B8A-AEA7-A0CF584DD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BA34B08-4B4A-4A0F-B32D-F166E4CB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DBBA961-C59A-44DC-B361-70F72917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59F804-14D1-415F-8CCC-F8A2ED69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161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AF62BE-C1CF-412E-A55B-01170CC1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C194D7-39A2-46BB-8631-FE126FBBD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06564F3-3FB0-4A4E-B710-F343E2AF3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7FA2986-C064-4322-885C-9CA86EA6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8CB20EB-BFCC-4E29-BC88-82F55A3B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142C2F-36B5-4DE4-98B6-3D3E2ACF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330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691FD5-E263-4268-B510-800EAE98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C2E6DEB-337D-4EE3-98AC-00A898A3C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C1DE290-1802-4119-9C23-75DA9BEE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404BBFA-48E8-45A9-84E4-362CE9AAF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C955D7D-69C3-497F-A7C7-971322C38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D4F304A-8DF9-4C1C-9566-CF6F4E15C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32896AB-D470-4144-B2C3-EDFFB2CB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A2A0C4A-29EF-44AD-AB17-A598856F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621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92C6EE-8F1A-4F3E-8288-3DF96DF1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B7CC490-74A5-463B-A2B1-A2ADBC18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E7DCE64-9792-4A77-9089-23FD0D52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D2F051B-CFB1-4EA7-910D-738E31E9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278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D7BE1B1-05D8-4F2B-B09D-39DEDB61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49BA8C7-BA0D-4C14-ABBB-F7998314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93B69A1-9EAB-4B61-9774-0C98AD35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785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4753C4-F84C-4817-B500-E1F21D20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D9380F4-2881-464F-A13C-F9195624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739D60-7AA8-494F-B15F-075572B7B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21C1194-006C-434A-AD36-749A53AE5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FCA3EEB-BDB2-4CD7-9BF7-622E0B3A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CFCF163-3DB8-46C7-8FF6-751AA6EE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110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025628-EF75-4FED-BC58-E5555C84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E52B992-8255-4774-AFA1-988E8240B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B88863B-48D0-4DBB-86E6-9BB143E3D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6F544F-6137-4412-876F-24219427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5C8EDE-7927-4A97-8874-68CB6EDF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091EC02-C439-4E4A-BD9C-FF092DB8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931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4B7A5F-8D7B-4B22-A756-30830339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2E3C184-9EC2-43C5-BF46-CA72A9B1B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3C78389-2CDE-47FA-A38D-3691A1F4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3B2AB9B-33AE-4DCB-987D-6DC61DC1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33A43D-B875-4D93-A654-00CFBDF3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653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0427681-7E72-4CC2-937A-35F8DEB9F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A29EDA8-D2A0-44F4-A4BA-989108F63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25BFD4F-11E9-4BA0-91AF-2D418ACA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3659D8-53C2-4E83-B377-766A22D90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0B4A115-D325-4AC6-ACB5-19F79FF4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955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279870E-427B-4BC0-8109-6948153C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580DF78-6C40-4025-AA69-69453703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5A3589-2E11-49F8-B91B-EED6C72B8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DAD1B-4982-470A-8D23-6FC315194FA5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8B9A9A-6B5D-4905-BC5C-5A1A31C5C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4B2140-7283-4C5B-85C2-EB8EABAC3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ED08-DE3D-4E1C-AC2E-41DA9CB5D7C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249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EB42EF-D041-4B80-B213-3BABFAB9F5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Indeksy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3D529A4-F818-4D84-9E66-E8A8811E6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20682"/>
          </a:xfrm>
        </p:spPr>
        <p:txBody>
          <a:bodyPr>
            <a:normAutofit/>
          </a:bodyPr>
          <a:lstStyle/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sz="1600" dirty="0"/>
              <a:t>Przemysław Starosta - 2026</a:t>
            </a:r>
          </a:p>
        </p:txBody>
      </p:sp>
    </p:spTree>
    <p:extLst>
      <p:ext uri="{BB962C8B-B14F-4D97-AF65-F5344CB8AC3E}">
        <p14:creationId xmlns:p14="http://schemas.microsoft.com/office/powerpoint/2010/main" val="137699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349ED0E-91F6-4868-8C69-7934C96C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 err="1">
                <a:solidFill>
                  <a:srgbClr val="FFFFFF"/>
                </a:solidFill>
              </a:rPr>
              <a:t>Explain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vs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 err="1">
                <a:solidFill>
                  <a:srgbClr val="FFFFFF"/>
                </a:solidFill>
              </a:rPr>
              <a:t>Analyze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7074097-288B-B295-1C4B-0DD25B1094E2}"/>
              </a:ext>
            </a:extLst>
          </p:cNvPr>
          <p:cNvSpPr txBox="1"/>
          <p:nvPr/>
        </p:nvSpPr>
        <p:spPr>
          <a:xfrm>
            <a:off x="3904559" y="2061724"/>
            <a:ext cx="745424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Różnica między EXPLAIN PLAN a EXPLAIN ANALYZE w </a:t>
            </a:r>
            <a:r>
              <a:rPr lang="pl-PL" dirty="0" err="1"/>
              <a:t>PostgreSQL</a:t>
            </a:r>
            <a:r>
              <a:rPr lang="pl-PL" dirty="0"/>
              <a:t> polega na tym, że EXPLAIN PLAN (lub po prostu EXPLAIN) </a:t>
            </a:r>
            <a:r>
              <a:rPr lang="pl-PL" b="1" dirty="0"/>
              <a:t>pokazuje </a:t>
            </a:r>
            <a:r>
              <a:rPr lang="pl-PL" b="1" i="1" dirty="0"/>
              <a:t>przewidywany</a:t>
            </a:r>
            <a:r>
              <a:rPr lang="pl-PL" b="1" dirty="0"/>
              <a:t> plan </a:t>
            </a:r>
            <a:r>
              <a:rPr lang="pl-PL" dirty="0"/>
              <a:t>wykonania zapytania, natomiast EXPLAIN ANALYZE </a:t>
            </a:r>
            <a:r>
              <a:rPr lang="pl-PL" i="1" dirty="0"/>
              <a:t>wykonuje</a:t>
            </a:r>
            <a:r>
              <a:rPr lang="pl-PL" dirty="0"/>
              <a:t> zapytanie i </a:t>
            </a:r>
            <a:r>
              <a:rPr lang="pl-PL" b="1" dirty="0"/>
              <a:t>pokazuje </a:t>
            </a:r>
            <a:r>
              <a:rPr lang="pl-PL" b="1" i="1" dirty="0"/>
              <a:t>rzeczywisty</a:t>
            </a:r>
            <a:r>
              <a:rPr lang="pl-PL" b="1" dirty="0"/>
              <a:t> plan </a:t>
            </a:r>
            <a:r>
              <a:rPr lang="pl-PL" dirty="0"/>
              <a:t>wykonania wraz ze statystykami czasu wykonania</a:t>
            </a:r>
          </a:p>
        </p:txBody>
      </p:sp>
    </p:spTree>
    <p:extLst>
      <p:ext uri="{BB962C8B-B14F-4D97-AF65-F5344CB8AC3E}">
        <p14:creationId xmlns:p14="http://schemas.microsoft.com/office/powerpoint/2010/main" val="22913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BF13-7D48-2A54-18D6-C0AE4F05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FA542F95-6AD6-AD67-2C9E-6D2BFC40A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E3AA881-FB1B-747C-C304-9C6E72FD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 err="1">
                <a:solidFill>
                  <a:srgbClr val="FFFFFF"/>
                </a:solidFill>
              </a:rPr>
              <a:t>Explain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vs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 err="1">
                <a:solidFill>
                  <a:srgbClr val="FFFFFF"/>
                </a:solidFill>
              </a:rPr>
              <a:t>Analyze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708242B-A5C4-07BA-8E63-B12718D56AF3}"/>
              </a:ext>
            </a:extLst>
          </p:cNvPr>
          <p:cNvSpPr txBox="1"/>
          <p:nvPr/>
        </p:nvSpPr>
        <p:spPr>
          <a:xfrm>
            <a:off x="3708617" y="873004"/>
            <a:ext cx="7788873" cy="411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EXPLAIN (PLAN)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Cel:</a:t>
            </a:r>
            <a:r>
              <a:rPr lang="pl-PL" sz="1600" dirty="0"/>
              <a:t> Pokazuje, jak </a:t>
            </a:r>
            <a:r>
              <a:rPr lang="pl-PL" sz="1600" dirty="0" err="1"/>
              <a:t>PostgreSQL</a:t>
            </a:r>
            <a:r>
              <a:rPr lang="pl-PL" sz="1600" dirty="0"/>
              <a:t> </a:t>
            </a:r>
            <a:r>
              <a:rPr lang="pl-PL" sz="1600" i="1" dirty="0"/>
              <a:t>zamierza</a:t>
            </a:r>
            <a:r>
              <a:rPr lang="pl-PL" sz="1600" dirty="0"/>
              <a:t> wykonać zapytanie, bez faktycznego jego uruchamiania.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Wynik:</a:t>
            </a:r>
            <a:r>
              <a:rPr lang="pl-PL" sz="1600" dirty="0"/>
              <a:t> Zawiera informacje o kolejności operacji (np. skanowanie tabel, łączenia, sortowanie), typach użytych indeksów, szacowanych kosztach (czas, liczba wierszy) dla każdej operacji.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Zastosowanie:</a:t>
            </a:r>
            <a:r>
              <a:rPr lang="pl-PL" sz="1600" dirty="0"/>
              <a:t> Przydatne do szybkiej oceny potencjalnych problemów z wydajnością bez wpływu na dane (ponieważ zapytanie nie jest wykonywane). Można go użyć do sprawdzenia, czy optymalizator wybiera sensowny plan.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Brak wykonania:</a:t>
            </a:r>
            <a:r>
              <a:rPr lang="pl-PL" sz="1600" dirty="0"/>
              <a:t> Zapytanie nie jest faktycznie uruchamiane, więc nie ma wpływu na dane ani nie zużywa rzeczywistych zasobów poza generowaniem planu.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36502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C859-1640-0D1D-B8F3-CDD411AF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F91BE64B-68E1-C282-28F1-58002FB45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4DC1542-C691-9059-EC08-BD85E421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 err="1">
                <a:solidFill>
                  <a:srgbClr val="FFFFFF"/>
                </a:solidFill>
              </a:rPr>
              <a:t>Explain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vs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 err="1">
                <a:solidFill>
                  <a:srgbClr val="FFFFFF"/>
                </a:solidFill>
              </a:rPr>
              <a:t>Analyze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876DB8F-41E5-E2CF-05E0-BD12C3257C14}"/>
              </a:ext>
            </a:extLst>
          </p:cNvPr>
          <p:cNvSpPr txBox="1"/>
          <p:nvPr/>
        </p:nvSpPr>
        <p:spPr>
          <a:xfrm>
            <a:off x="3817474" y="629164"/>
            <a:ext cx="7825886" cy="485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EXPLAIN ANALYZE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Cel:</a:t>
            </a:r>
            <a:r>
              <a:rPr lang="pl-PL" sz="1600" dirty="0"/>
              <a:t> Wykonuje zapytanie i pokazuje </a:t>
            </a:r>
            <a:r>
              <a:rPr lang="pl-PL" sz="1600" i="1" dirty="0"/>
              <a:t>rzeczywisty</a:t>
            </a:r>
            <a:r>
              <a:rPr lang="pl-PL" sz="1600" dirty="0"/>
              <a:t> plan wykonania wraz ze statystykami czasu wykonania dla każdej operacji.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Wynik:</a:t>
            </a:r>
            <a:r>
              <a:rPr lang="pl-PL" sz="1600" dirty="0"/>
              <a:t> Oprócz informacji z EXPLAIN, EXPLAIN ANALYZE dodaje rzeczywiste czasy wykonania (w milisekundach), liczbę zwróconych wierszy, liczbę pętli dla każdej operacji.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Zastosowanie:</a:t>
            </a:r>
            <a:r>
              <a:rPr lang="pl-PL" sz="1600" dirty="0"/>
              <a:t> Niezbędne do dokładnej analizy wydajności. Pozwala porównać szacowane koszty z rzeczywistymi, co pomaga zidentyfikować, gdzie optymalizator mógł się pomylić w swoich szacunkach (np. z powodu nieaktualnych statystyk). Pomaga również zlokalizować wąskie gardła w zapytaniu.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Wykonanie zapytania:</a:t>
            </a:r>
            <a:r>
              <a:rPr lang="pl-PL" sz="1600" dirty="0"/>
              <a:t> Zapytanie jest faktycznie uruchamiane, więc ma wpływ na dane (jeśli jest to zapytanie modyfikujące dane, np. INSERT, UPDATE, DELETE) i zużywa rzeczywiste zasoby. Z tego powodu należy używać go ostrożnie na środowiskach produkcyjnych, szczególnie w przypadku długo trwających zapytań.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855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2B72-4557-3573-F654-6D889638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7C9CB82E-5A8A-6ED7-F7C6-2E09126B5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B7A40BD-3098-B9B8-9D7E-D280534D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Typy indeksów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B-</a:t>
            </a:r>
            <a:r>
              <a:rPr lang="pl-PL" sz="2600" dirty="0" err="1">
                <a:solidFill>
                  <a:srgbClr val="FFFFFF"/>
                </a:solidFill>
              </a:rPr>
              <a:t>tree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7F82E41-8269-8E8C-AA38-02FB6D3FF89E}"/>
              </a:ext>
            </a:extLst>
          </p:cNvPr>
          <p:cNvSpPr txBox="1"/>
          <p:nvPr/>
        </p:nvSpPr>
        <p:spPr>
          <a:xfrm>
            <a:off x="3921977" y="1778696"/>
            <a:ext cx="7825886" cy="323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B-</a:t>
            </a:r>
            <a:r>
              <a:rPr lang="pl-PL" sz="1600" b="1" dirty="0" err="1"/>
              <a:t>tree</a:t>
            </a:r>
            <a:r>
              <a:rPr lang="pl-PL" sz="1600" b="1" dirty="0"/>
              <a:t> (</a:t>
            </a:r>
            <a:r>
              <a:rPr lang="pl-PL" sz="1600" b="1" dirty="0" err="1"/>
              <a:t>Balanced</a:t>
            </a:r>
            <a:r>
              <a:rPr lang="pl-PL" sz="1600" b="1" dirty="0"/>
              <a:t> </a:t>
            </a:r>
            <a:r>
              <a:rPr lang="pl-PL" sz="1600" b="1" dirty="0" err="1"/>
              <a:t>Tree</a:t>
            </a:r>
            <a:r>
              <a:rPr lang="pl-PL" sz="1600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To domyślny i najczęściej używany typ indeksu w </a:t>
            </a:r>
            <a:r>
              <a:rPr lang="pl-PL" sz="1600" dirty="0" err="1"/>
              <a:t>PostgreSQL</a:t>
            </a:r>
            <a:r>
              <a:rPr lang="pl-PL" sz="1600" dirty="0"/>
              <a:t>. Jest to indeks ogólnego przeznaczenia, który doskonale sprawdza się w przypadku: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Porównań równościowych:</a:t>
            </a:r>
            <a:r>
              <a:rPr lang="pl-PL" sz="1600" dirty="0"/>
              <a:t> </a:t>
            </a:r>
            <a:r>
              <a:rPr lang="pl-PL" dirty="0"/>
              <a:t>WHERE </a:t>
            </a:r>
            <a:r>
              <a:rPr lang="pl-PL" dirty="0" err="1"/>
              <a:t>column</a:t>
            </a:r>
            <a:r>
              <a:rPr lang="pl-PL" dirty="0"/>
              <a:t> = '</a:t>
            </a:r>
            <a:r>
              <a:rPr lang="pl-PL" dirty="0" err="1"/>
              <a:t>value</a:t>
            </a:r>
            <a:r>
              <a:rPr lang="pl-PL" dirty="0"/>
              <a:t>'</a:t>
            </a:r>
            <a:endParaRPr lang="pl-PL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Porównań zakresowych:</a:t>
            </a:r>
            <a:r>
              <a:rPr lang="pl-PL" sz="1600" dirty="0"/>
              <a:t> </a:t>
            </a:r>
            <a:r>
              <a:rPr lang="pl-PL" dirty="0"/>
              <a:t>WHERE </a:t>
            </a:r>
            <a:r>
              <a:rPr lang="pl-PL" dirty="0" err="1"/>
              <a:t>column</a:t>
            </a:r>
            <a:r>
              <a:rPr lang="pl-PL" dirty="0"/>
              <a:t> &gt; '</a:t>
            </a:r>
            <a:r>
              <a:rPr lang="pl-PL" dirty="0" err="1"/>
              <a:t>value</a:t>
            </a:r>
            <a:r>
              <a:rPr lang="pl-PL" dirty="0"/>
              <a:t>'</a:t>
            </a:r>
            <a:r>
              <a:rPr lang="pl-PL" sz="1600" dirty="0"/>
              <a:t>, </a:t>
            </a:r>
            <a:r>
              <a:rPr lang="pl-PL" dirty="0"/>
              <a:t>WHERE </a:t>
            </a:r>
            <a:r>
              <a:rPr lang="pl-PL" dirty="0" err="1"/>
              <a:t>column</a:t>
            </a:r>
            <a:r>
              <a:rPr lang="pl-PL" dirty="0"/>
              <a:t> BETWEEN 'a' AND 'b'</a:t>
            </a:r>
            <a:endParaRPr lang="pl-PL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Sortowania:</a:t>
            </a:r>
            <a:r>
              <a:rPr lang="pl-PL" sz="1600" dirty="0"/>
              <a:t> </a:t>
            </a:r>
            <a:r>
              <a:rPr lang="pl-PL" dirty="0"/>
              <a:t>ORDER BY </a:t>
            </a:r>
            <a:r>
              <a:rPr lang="pl-PL" dirty="0" err="1"/>
              <a:t>column</a:t>
            </a:r>
            <a:endParaRPr lang="pl-PL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Wzorców LIKE:</a:t>
            </a:r>
            <a:r>
              <a:rPr lang="pl-PL" sz="1600" dirty="0"/>
              <a:t> </a:t>
            </a:r>
            <a:r>
              <a:rPr lang="pl-PL" dirty="0"/>
              <a:t>WHERE </a:t>
            </a:r>
            <a:r>
              <a:rPr lang="pl-PL" dirty="0" err="1"/>
              <a:t>column</a:t>
            </a:r>
            <a:r>
              <a:rPr lang="pl-PL" dirty="0"/>
              <a:t> LIKE '</a:t>
            </a:r>
            <a:r>
              <a:rPr lang="pl-PL" dirty="0" err="1"/>
              <a:t>prefix</a:t>
            </a:r>
            <a:r>
              <a:rPr lang="pl-PL" dirty="0"/>
              <a:t>%'</a:t>
            </a:r>
            <a:r>
              <a:rPr lang="pl-PL" sz="1600" dirty="0"/>
              <a:t> (ale nie </a:t>
            </a:r>
            <a:r>
              <a:rPr lang="pl-PL" dirty="0"/>
              <a:t>'%</a:t>
            </a:r>
            <a:r>
              <a:rPr lang="pl-PL" dirty="0" err="1"/>
              <a:t>suffix</a:t>
            </a:r>
            <a:r>
              <a:rPr lang="pl-PL" dirty="0"/>
              <a:t>'</a:t>
            </a:r>
            <a:r>
              <a:rPr lang="pl-PL" sz="1600" dirty="0"/>
              <a:t>)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863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48DB5-3E64-0575-9DA5-74863ABB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DB5D9C99-F468-D0F3-78A8-46E3461AA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14BFE89-E070-47DC-79A0-DD8E898F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Typy indeksów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 err="1">
                <a:solidFill>
                  <a:srgbClr val="FFFFFF"/>
                </a:solidFill>
              </a:rPr>
              <a:t>Hash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0BB8531-7398-1074-4588-9D9839BEDF50}"/>
              </a:ext>
            </a:extLst>
          </p:cNvPr>
          <p:cNvSpPr txBox="1"/>
          <p:nvPr/>
        </p:nvSpPr>
        <p:spPr>
          <a:xfrm>
            <a:off x="3622766" y="1635005"/>
            <a:ext cx="8303623" cy="310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 err="1"/>
              <a:t>Hash</a:t>
            </a:r>
            <a:endParaRPr lang="pl-P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Indeksy </a:t>
            </a:r>
            <a:r>
              <a:rPr lang="pl-PL" sz="1600" dirty="0" err="1"/>
              <a:t>hash</a:t>
            </a:r>
            <a:r>
              <a:rPr lang="pl-PL" sz="1600" dirty="0"/>
              <a:t> są używane tylko do porównań równościowych. Są one zazwyczaj szybsze niż B-</a:t>
            </a:r>
            <a:r>
              <a:rPr lang="pl-PL" sz="1600" dirty="0" err="1"/>
              <a:t>tree</a:t>
            </a:r>
            <a:r>
              <a:rPr lang="pl-PL" sz="1600" dirty="0"/>
              <a:t> dla zapytań równościowych, ale mają pewne ograniczenia: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Brak wsparcia dla zakresów:</a:t>
            </a:r>
            <a:r>
              <a:rPr lang="pl-PL" sz="1600" dirty="0"/>
              <a:t> Nie można ich używać do zapytań typu </a:t>
            </a:r>
            <a:r>
              <a:rPr lang="pl-PL" dirty="0"/>
              <a:t>WHERE </a:t>
            </a:r>
            <a:r>
              <a:rPr lang="pl-PL" dirty="0" err="1"/>
              <a:t>column</a:t>
            </a:r>
            <a:r>
              <a:rPr lang="pl-PL" dirty="0"/>
              <a:t> &gt; '</a:t>
            </a:r>
            <a:r>
              <a:rPr lang="pl-PL" dirty="0" err="1"/>
              <a:t>value</a:t>
            </a:r>
            <a:r>
              <a:rPr lang="pl-PL" dirty="0"/>
              <a:t>'</a:t>
            </a:r>
            <a:r>
              <a:rPr lang="pl-PL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Brak wsparcia dla sortowania:</a:t>
            </a:r>
            <a:r>
              <a:rPr lang="pl-PL" sz="1600" dirty="0"/>
              <a:t> Nie pomagają w sortowaniu danych.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Brak wsparcia dla wzorców LIKE.</a:t>
            </a:r>
            <a:endParaRPr lang="pl-PL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Brak wsparcia dla unikalności:</a:t>
            </a:r>
            <a:r>
              <a:rPr lang="pl-PL" sz="1600" dirty="0"/>
              <a:t> Nie mogą wymuszać unikalności wartości.</a:t>
            </a:r>
          </a:p>
        </p:txBody>
      </p:sp>
    </p:spTree>
    <p:extLst>
      <p:ext uri="{BB962C8B-B14F-4D97-AF65-F5344CB8AC3E}">
        <p14:creationId xmlns:p14="http://schemas.microsoft.com/office/powerpoint/2010/main" val="7471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EEDA-606F-02CE-B252-CA51263B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2D5B8E93-E3E8-06F9-9F32-DA9E3AF9C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6F5C8DE-A889-C960-06EA-44665D5F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Typy indeksów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GIN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465E250-11E1-BBAC-4C07-70541C120242}"/>
              </a:ext>
            </a:extLst>
          </p:cNvPr>
          <p:cNvSpPr txBox="1"/>
          <p:nvPr/>
        </p:nvSpPr>
        <p:spPr>
          <a:xfrm>
            <a:off x="3622766" y="1635005"/>
            <a:ext cx="8303623" cy="30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GIN (</a:t>
            </a:r>
            <a:r>
              <a:rPr lang="pl-PL" sz="1600" b="1" dirty="0" err="1"/>
              <a:t>Generalized</a:t>
            </a:r>
            <a:r>
              <a:rPr lang="pl-PL" sz="1600" b="1" dirty="0"/>
              <a:t> </a:t>
            </a:r>
            <a:r>
              <a:rPr lang="pl-PL" sz="1600" b="1" dirty="0" err="1"/>
              <a:t>Inverted</a:t>
            </a:r>
            <a:r>
              <a:rPr lang="pl-PL" sz="1600" b="1" dirty="0"/>
              <a:t> Index)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GIN to indeks odwrócony, który jest bardzo efektywny w przypadku danych zawierających wiele wartości w jednej kolumnie (np. tablice, dokumenty JSONB, typy </a:t>
            </a:r>
            <a:r>
              <a:rPr lang="pl-PL" sz="1600" dirty="0" err="1"/>
              <a:t>pełnotekstowe</a:t>
            </a:r>
            <a:r>
              <a:rPr lang="pl-PL" sz="1600" dirty="0"/>
              <a:t>). Jest idealny do: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Wyszukiwania </a:t>
            </a:r>
            <a:r>
              <a:rPr lang="pl-PL" sz="1600" b="1" dirty="0" err="1"/>
              <a:t>pełnotekstowego</a:t>
            </a:r>
            <a:r>
              <a:rPr lang="pl-PL" sz="1600" b="1" dirty="0"/>
              <a:t>:</a:t>
            </a:r>
            <a:r>
              <a:rPr lang="pl-PL" sz="1600" dirty="0"/>
              <a:t> Bardzo efektywny dla </a:t>
            </a:r>
            <a:r>
              <a:rPr lang="pl-PL" dirty="0" err="1"/>
              <a:t>tsvector</a:t>
            </a:r>
            <a:r>
              <a:rPr lang="pl-PL" sz="1600" dirty="0"/>
              <a:t> i operatorów wyszukiwania </a:t>
            </a:r>
            <a:r>
              <a:rPr lang="pl-PL" sz="1600" dirty="0" err="1"/>
              <a:t>pełnotekstowego</a:t>
            </a:r>
            <a:r>
              <a:rPr lang="pl-PL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JSONB:</a:t>
            </a:r>
            <a:r>
              <a:rPr lang="pl-PL" sz="1600" dirty="0"/>
              <a:t> Wyszukiwanie kluczy i wartości w dokumentach JSONB.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Tablice:</a:t>
            </a:r>
            <a:r>
              <a:rPr lang="pl-PL" sz="1600" dirty="0"/>
              <a:t> Wyszukiwanie elementów w tablicach.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839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B7DA0-81C7-1099-3ED2-3F6EC771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3EBD0CC-527F-159F-2FFE-9B34BE824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8341B69-F492-8914-08E5-F1211AA9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Typy indeksów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BRIN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FDCAB6D-E700-060D-DA27-36B0207A3263}"/>
              </a:ext>
            </a:extLst>
          </p:cNvPr>
          <p:cNvSpPr txBox="1"/>
          <p:nvPr/>
        </p:nvSpPr>
        <p:spPr>
          <a:xfrm>
            <a:off x="3622766" y="1635005"/>
            <a:ext cx="8303623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BRIN (Block </a:t>
            </a:r>
            <a:r>
              <a:rPr lang="pl-PL" sz="1600" b="1" dirty="0" err="1"/>
              <a:t>Range</a:t>
            </a:r>
            <a:r>
              <a:rPr lang="pl-PL" sz="1600" b="1" dirty="0"/>
              <a:t> Index)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BRIN to indeks zakresowy bloków, który jest przeznaczony dla bardzo dużych tabel, gdzie dane są fizycznie uporządkowane w sposób skorelowany z wartościami kolumny.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Zamiast indeksować każdą pojedynczą wartość, BRIN przechowuje minimalne i maksymalne wartości dla zakresów bloków danych. Jest to bardzo kompaktowy indeks, ale efektywny tylko wtedy, gdy dane są dobrze uporządkowane.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Duże tabele z uporządkowanymi danymi:</a:t>
            </a:r>
            <a:r>
              <a:rPr lang="pl-PL" sz="1600" dirty="0"/>
              <a:t> Np. tabele z danymi czasowymi, gdzie nowe rekordy są zawsze dodawane na końcu.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672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569A-7BF0-7CA4-18B5-4CB50F9E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3E3EA9D2-45B6-EB88-1732-2DA82910A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03853B9-6CA5-2A1B-22A5-0CBBEBE8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Typy indeksów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GIST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D9C2B92-2D67-3428-E6C3-40356957EF6B}"/>
              </a:ext>
            </a:extLst>
          </p:cNvPr>
          <p:cNvSpPr txBox="1"/>
          <p:nvPr/>
        </p:nvSpPr>
        <p:spPr>
          <a:xfrm>
            <a:off x="3622766" y="1635005"/>
            <a:ext cx="8303623" cy="310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 err="1"/>
              <a:t>GiST</a:t>
            </a:r>
            <a:r>
              <a:rPr lang="pl-PL" sz="1600" b="1" dirty="0"/>
              <a:t> (</a:t>
            </a:r>
            <a:r>
              <a:rPr lang="pl-PL" sz="1600" b="1" dirty="0" err="1"/>
              <a:t>Generalized</a:t>
            </a:r>
            <a:r>
              <a:rPr lang="pl-PL" sz="1600" b="1" dirty="0"/>
              <a:t> </a:t>
            </a:r>
            <a:r>
              <a:rPr lang="pl-PL" sz="1600" b="1" dirty="0" err="1"/>
              <a:t>Search</a:t>
            </a:r>
            <a:r>
              <a:rPr lang="pl-PL" sz="1600" b="1" dirty="0"/>
              <a:t> </a:t>
            </a:r>
            <a:r>
              <a:rPr lang="pl-PL" sz="1600" b="1" dirty="0" err="1"/>
              <a:t>Tree</a:t>
            </a:r>
            <a:r>
              <a:rPr lang="pl-PL" sz="1600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GiST</a:t>
            </a:r>
            <a:r>
              <a:rPr lang="pl-PL" sz="1600" dirty="0"/>
              <a:t> to ogólna struktura indeksu, która może być używana do implementacji wielu różnych schematów indeksowania. Jest szczególnie przydatna dla typów danych, które nie są łatwo </a:t>
            </a:r>
            <a:r>
              <a:rPr lang="pl-PL" sz="1600" dirty="0" err="1"/>
              <a:t>indeksowalne</a:t>
            </a:r>
            <a:r>
              <a:rPr lang="pl-PL" sz="1600" dirty="0"/>
              <a:t> za pomocą B-</a:t>
            </a:r>
            <a:r>
              <a:rPr lang="pl-PL" sz="1600" dirty="0" err="1"/>
              <a:t>tree</a:t>
            </a:r>
            <a:r>
              <a:rPr lang="pl-PL" sz="1600" dirty="0"/>
              <a:t>, takich jak: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Dane geometryczne:</a:t>
            </a:r>
            <a:r>
              <a:rPr lang="pl-PL" sz="1600" dirty="0"/>
              <a:t> Punkty, linie, poligony (np. z rozszerzeniem </a:t>
            </a:r>
            <a:r>
              <a:rPr lang="pl-PL" sz="1600" dirty="0" err="1"/>
              <a:t>PostGIS</a:t>
            </a:r>
            <a:r>
              <a:rPr lang="pl-PL" sz="1600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Dane </a:t>
            </a:r>
            <a:r>
              <a:rPr lang="pl-PL" sz="1600" b="1" dirty="0" err="1"/>
              <a:t>pełnotekstowe</a:t>
            </a:r>
            <a:r>
              <a:rPr lang="pl-PL" sz="1600" b="1" dirty="0"/>
              <a:t>:</a:t>
            </a:r>
            <a:r>
              <a:rPr lang="pl-PL" sz="1600" dirty="0"/>
              <a:t> Wyszukiwanie </a:t>
            </a:r>
            <a:r>
              <a:rPr lang="pl-PL" sz="1600" dirty="0" err="1"/>
              <a:t>pełnotekstowe</a:t>
            </a:r>
            <a:r>
              <a:rPr lang="pl-PL" sz="1600" dirty="0"/>
              <a:t> (np. z typem </a:t>
            </a:r>
            <a:r>
              <a:rPr lang="pl-PL" dirty="0" err="1"/>
              <a:t>tsvector</a:t>
            </a:r>
            <a:r>
              <a:rPr lang="pl-PL" sz="1600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Dane zakresowe:</a:t>
            </a:r>
            <a:r>
              <a:rPr lang="pl-PL" sz="1600" dirty="0"/>
              <a:t> </a:t>
            </a:r>
            <a:r>
              <a:rPr lang="pl-PL" dirty="0"/>
              <a:t>WHERE </a:t>
            </a:r>
            <a:r>
              <a:rPr lang="pl-PL" dirty="0" err="1"/>
              <a:t>range_column</a:t>
            </a:r>
            <a:r>
              <a:rPr lang="pl-PL" dirty="0"/>
              <a:t> OVERLAPS </a:t>
            </a:r>
            <a:r>
              <a:rPr lang="pl-PL" dirty="0" err="1"/>
              <a:t>range_value</a:t>
            </a:r>
            <a:r>
              <a:rPr lang="pl-PL" sz="16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Dane wielowymiarowe:</a:t>
            </a:r>
            <a:r>
              <a:rPr lang="pl-PL" sz="1600" dirty="0"/>
              <a:t> Indeksowanie danych w wielu wymiarach.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304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5D1D-6FA2-3EE5-6994-6D0F7884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E6A22B7C-56B4-4226-02E0-6833162C3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6F9B416-E10A-03C8-E39A-351CBC5C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F12519E-A9A4-CFB5-D639-0CD19AFBD67E}"/>
              </a:ext>
            </a:extLst>
          </p:cNvPr>
          <p:cNvSpPr txBox="1"/>
          <p:nvPr/>
        </p:nvSpPr>
        <p:spPr>
          <a:xfrm>
            <a:off x="3622766" y="1635005"/>
            <a:ext cx="8303623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 err="1"/>
              <a:t>PostgreSQL</a:t>
            </a:r>
            <a:r>
              <a:rPr lang="pl-PL" dirty="0"/>
              <a:t> generuje plany zapytań w postaci drzewa kroków (nazywanych węzłami), które obrazują, jak optymalizator zamierza pobrać oraz przetworzyć dane dla danego zapytania.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Analiza planu zapytania pozwala zidentyfikować wąskie gardła i podjąć kroki optymalizacyjne, aby usprawnić wykonanie SQL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1033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D6A6-2938-0C7D-82FB-467C10DA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8E9642D3-C076-B910-1A35-049417C8B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2648BCF-1B26-AB28-4B79-5452F8E3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struktura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5B4BF9D-7D5D-087A-E6B4-56FBF2D0CA1D}"/>
              </a:ext>
            </a:extLst>
          </p:cNvPr>
          <p:cNvSpPr txBox="1"/>
          <p:nvPr/>
        </p:nvSpPr>
        <p:spPr>
          <a:xfrm>
            <a:off x="3640183" y="1487272"/>
            <a:ext cx="8303623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Plan zapytania w </a:t>
            </a:r>
            <a:r>
              <a:rPr lang="pl-PL" dirty="0" err="1"/>
              <a:t>PostgreSQL</a:t>
            </a:r>
            <a:r>
              <a:rPr lang="pl-PL" dirty="0"/>
              <a:t> to drzewo, w którym </a:t>
            </a:r>
            <a:r>
              <a:rPr lang="pl-PL" b="1" dirty="0"/>
              <a:t>każdy węzeł odpowiada operacji</a:t>
            </a:r>
            <a:r>
              <a:rPr lang="pl-PL" dirty="0"/>
              <a:t>, np. skanowaniu tabeli, odczytowi z indeksu, sortowaniu lub łączeniu danych (JOIN).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Najniższe węzły drzewa to skany tabel (np</a:t>
            </a:r>
            <a:r>
              <a:rPr lang="pl-PL" i="1" dirty="0"/>
              <a:t>. </a:t>
            </a:r>
            <a:r>
              <a:rPr lang="pl-PL" i="1" dirty="0" err="1"/>
              <a:t>Sequential</a:t>
            </a:r>
            <a:r>
              <a:rPr lang="pl-PL" i="1" dirty="0"/>
              <a:t> Scan, Index Scan, Index </a:t>
            </a:r>
            <a:r>
              <a:rPr lang="pl-PL" i="1" dirty="0" err="1"/>
              <a:t>Only</a:t>
            </a:r>
            <a:r>
              <a:rPr lang="pl-PL" i="1" dirty="0"/>
              <a:t> Scan</a:t>
            </a:r>
            <a:r>
              <a:rPr lang="pl-PL" dirty="0"/>
              <a:t>), które zwracają surowe dane.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Wyższe węzły realizują operacje pośrednie, takie jak łączenia (</a:t>
            </a:r>
            <a:r>
              <a:rPr lang="pl-PL" i="1" dirty="0" err="1"/>
              <a:t>Nested</a:t>
            </a:r>
            <a:r>
              <a:rPr lang="pl-PL" i="1" dirty="0"/>
              <a:t> </a:t>
            </a:r>
            <a:r>
              <a:rPr lang="pl-PL" i="1" dirty="0" err="1"/>
              <a:t>Loop</a:t>
            </a:r>
            <a:r>
              <a:rPr lang="pl-PL" i="1" dirty="0"/>
              <a:t>, </a:t>
            </a:r>
            <a:r>
              <a:rPr lang="pl-PL" i="1" dirty="0" err="1"/>
              <a:t>Merge</a:t>
            </a:r>
            <a:r>
              <a:rPr lang="pl-PL" i="1" dirty="0"/>
              <a:t> </a:t>
            </a:r>
            <a:r>
              <a:rPr lang="pl-PL" i="1" dirty="0" err="1"/>
              <a:t>Join</a:t>
            </a:r>
            <a:r>
              <a:rPr lang="pl-PL" i="1" dirty="0"/>
              <a:t>, </a:t>
            </a:r>
            <a:r>
              <a:rPr lang="pl-PL" i="1" dirty="0" err="1"/>
              <a:t>Hash</a:t>
            </a:r>
            <a:r>
              <a:rPr lang="pl-PL" i="1" dirty="0"/>
              <a:t> </a:t>
            </a:r>
            <a:r>
              <a:rPr lang="pl-PL" i="1" dirty="0" err="1"/>
              <a:t>Join</a:t>
            </a:r>
            <a:r>
              <a:rPr lang="pl-PL" dirty="0"/>
              <a:t>), filtrowanie, sortowanie czy agregacje (</a:t>
            </a:r>
            <a:r>
              <a:rPr lang="pl-PL" i="1" dirty="0" err="1"/>
              <a:t>Aggregate</a:t>
            </a:r>
            <a:r>
              <a:rPr lang="pl-PL" dirty="0"/>
              <a:t>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Każdy węzeł posiada własny koszt początkowy (</a:t>
            </a:r>
            <a:r>
              <a:rPr lang="pl-PL" i="1" dirty="0"/>
              <a:t>start-</a:t>
            </a:r>
            <a:r>
              <a:rPr lang="pl-PL" i="1" dirty="0" err="1"/>
              <a:t>up</a:t>
            </a:r>
            <a:r>
              <a:rPr lang="pl-PL" i="1" dirty="0"/>
              <a:t> </a:t>
            </a:r>
            <a:r>
              <a:rPr lang="pl-PL" i="1" dirty="0" err="1"/>
              <a:t>cost</a:t>
            </a:r>
            <a:r>
              <a:rPr lang="pl-PL" dirty="0"/>
              <a:t>), koszt całkowity (</a:t>
            </a:r>
            <a:r>
              <a:rPr lang="pl-PL" i="1" dirty="0" err="1"/>
              <a:t>total</a:t>
            </a:r>
            <a:r>
              <a:rPr lang="pl-PL" i="1" dirty="0"/>
              <a:t> </a:t>
            </a:r>
            <a:r>
              <a:rPr lang="pl-PL" i="1" dirty="0" err="1"/>
              <a:t>cost</a:t>
            </a:r>
            <a:r>
              <a:rPr lang="pl-PL" dirty="0"/>
              <a:t>), prognozowaną liczbę zwróconych wierszy oraz szerokość rekordów</a:t>
            </a:r>
          </a:p>
        </p:txBody>
      </p:sp>
    </p:spTree>
    <p:extLst>
      <p:ext uri="{BB962C8B-B14F-4D97-AF65-F5344CB8AC3E}">
        <p14:creationId xmlns:p14="http://schemas.microsoft.com/office/powerpoint/2010/main" val="4175464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71D7-8CB7-0515-CE5E-26AF22D91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C203BFC7-919B-2487-2B32-A87983D6B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CE05E7B-E0B3-1F71-48CA-E180BE82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kluczowe elementy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090A3A3-D7C6-7203-3816-898B5AFB5E98}"/>
              </a:ext>
            </a:extLst>
          </p:cNvPr>
          <p:cNvSpPr txBox="1"/>
          <p:nvPr/>
        </p:nvSpPr>
        <p:spPr>
          <a:xfrm>
            <a:off x="3640183" y="407409"/>
            <a:ext cx="8303623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Typy skanów</a:t>
            </a:r>
            <a:r>
              <a:rPr lang="pl-PL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u="sng" dirty="0" err="1"/>
              <a:t>Sequential</a:t>
            </a:r>
            <a:r>
              <a:rPr lang="pl-PL" u="sng" dirty="0"/>
              <a:t> Scan </a:t>
            </a:r>
            <a:r>
              <a:rPr lang="pl-PL" dirty="0"/>
              <a:t>– czytanie wszystkich wierszy tabeli, używane, gdy brak odpowiednich indeksów lub dla bardzo małych tabel.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u="sng" dirty="0"/>
              <a:t>Index Scan/Index </a:t>
            </a:r>
            <a:r>
              <a:rPr lang="pl-PL" u="sng" dirty="0" err="1"/>
              <a:t>Only</a:t>
            </a:r>
            <a:r>
              <a:rPr lang="pl-PL" u="sng" dirty="0"/>
              <a:t> Scan </a:t>
            </a:r>
            <a:r>
              <a:rPr lang="pl-PL" dirty="0"/>
              <a:t>– korzystają z indeksów, preferowane przy większych tabelach i zapytaniach filtrujących po zindeksowanych kolumnach.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 err="1"/>
              <a:t>Joiny</a:t>
            </a:r>
            <a:r>
              <a:rPr lang="pl-PL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u="sng" dirty="0" err="1"/>
              <a:t>Nested</a:t>
            </a:r>
            <a:r>
              <a:rPr lang="pl-PL" u="sng" dirty="0"/>
              <a:t> </a:t>
            </a:r>
            <a:r>
              <a:rPr lang="pl-PL" u="sng" dirty="0" err="1"/>
              <a:t>Loop</a:t>
            </a:r>
            <a:r>
              <a:rPr lang="pl-PL" u="sng" dirty="0"/>
              <a:t> </a:t>
            </a:r>
            <a:r>
              <a:rPr lang="pl-PL" dirty="0"/>
              <a:t>– szybki dla małych ilości, ale nieefektywny przy dużych danych bez właściwych indeksów.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u="sng" dirty="0" err="1"/>
              <a:t>Hash</a:t>
            </a:r>
            <a:r>
              <a:rPr lang="pl-PL" u="sng" dirty="0"/>
              <a:t> </a:t>
            </a:r>
            <a:r>
              <a:rPr lang="pl-PL" u="sng" dirty="0" err="1"/>
              <a:t>Join</a:t>
            </a:r>
            <a:r>
              <a:rPr lang="pl-PL" u="sng" dirty="0"/>
              <a:t>/</a:t>
            </a:r>
            <a:r>
              <a:rPr lang="pl-PL" u="sng" dirty="0" err="1"/>
              <a:t>Merge</a:t>
            </a:r>
            <a:r>
              <a:rPr lang="pl-PL" u="sng" dirty="0"/>
              <a:t> </a:t>
            </a:r>
            <a:r>
              <a:rPr lang="pl-PL" u="sng" dirty="0" err="1"/>
              <a:t>Join</a:t>
            </a:r>
            <a:r>
              <a:rPr lang="pl-PL" u="sng" dirty="0"/>
              <a:t> </a:t>
            </a:r>
            <a:r>
              <a:rPr lang="pl-PL" dirty="0"/>
              <a:t>– lepsze dla dużych zbiorów, przyklejone do odpowiednich warunków sortowania lub </a:t>
            </a:r>
            <a:r>
              <a:rPr lang="pl-PL" dirty="0" err="1"/>
              <a:t>hash’owania</a:t>
            </a:r>
            <a:r>
              <a:rPr lang="pl-PL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Agregacje i sortowania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kosztowne mogą być operacje GROUP BY, ORDER BY, DISTINCT, szczególnie na dużych zbiorach bez indeksów.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48927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B607-C3A4-77B7-D6E7-9195DA84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399381B2-950D-324F-B35D-C27F0CFA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8552F3F-2475-CEDF-C702-80181DB3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optymalizacja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17340A1-F43B-F769-D104-399AEAB7E8F3}"/>
              </a:ext>
            </a:extLst>
          </p:cNvPr>
          <p:cNvSpPr txBox="1"/>
          <p:nvPr/>
        </p:nvSpPr>
        <p:spPr>
          <a:xfrm>
            <a:off x="3605348" y="432052"/>
            <a:ext cx="8303623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Optymalizacja planów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Upewnij się, że statystyki są aktualne (ANALYZE), bo plan powstaje dynamicznie na podstawie aktualnych danych.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Twórz odpowiednie indeksy na kolumnach filtrujących, sortujących bądź używanych do JOIN.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Analizuj koszt (</a:t>
            </a:r>
            <a:r>
              <a:rPr lang="pl-PL" dirty="0" err="1"/>
              <a:t>cost</a:t>
            </a:r>
            <a:r>
              <a:rPr lang="pl-PL" dirty="0"/>
              <a:t>) oraz liczbę przetwarzanych wierszy na poszczególnych krokach – wysokie wartości mogą wskazywać na potrzebę optymalizacji danego miejsca.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Unikaj nadmiarowych podzapytań – wielokrotne IN, EXISTS czy podzapytania mogą być mniej efektywne niż JOIN.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Zwracaj uwagę na operacje typowo kosztowne (np. sortowanie, materializacja pośrednia, skomplikowane agregaty).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W </a:t>
            </a:r>
            <a:r>
              <a:rPr lang="pl-PL" dirty="0" err="1"/>
              <a:t>PostgreSQL</a:t>
            </a:r>
            <a:r>
              <a:rPr lang="pl-PL" dirty="0"/>
              <a:t> 17 można także monitorować zużycie pamięci przez zapytanie oraz analizować wykorzystanie zapytań równoległych (</a:t>
            </a:r>
            <a:r>
              <a:rPr lang="pl-PL" dirty="0" err="1"/>
              <a:t>parallel</a:t>
            </a:r>
            <a:r>
              <a:rPr lang="pl-PL" dirty="0"/>
              <a:t> </a:t>
            </a:r>
            <a:r>
              <a:rPr lang="pl-PL" dirty="0" err="1"/>
              <a:t>execution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8092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4B802-7B3C-AD01-5BC3-73353F4B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D6ADBCB5-255B-DFA8-C2AD-B38E65F26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FCBB102-8FF7-3CB9-8833-38C61879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Analiza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EB9F233-422C-8B3C-C773-24F83A6F755A}"/>
              </a:ext>
            </a:extLst>
          </p:cNvPr>
          <p:cNvSpPr txBox="1"/>
          <p:nvPr/>
        </p:nvSpPr>
        <p:spPr>
          <a:xfrm>
            <a:off x="3627121" y="1720840"/>
            <a:ext cx="84690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900" dirty="0" err="1">
                <a:latin typeface="Aptos Mono" panose="020F0502020204030204" pitchFamily="49" charset="0"/>
              </a:rPr>
              <a:t>GroupAggregate</a:t>
            </a:r>
            <a:r>
              <a:rPr lang="pl-PL" sz="900" dirty="0">
                <a:latin typeface="Aptos Mono" panose="020F0502020204030204" pitchFamily="49" charset="0"/>
              </a:rPr>
              <a:t> 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=2054.84..16699.38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=12)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=0.036..155.654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</a:t>
            </a:r>
            <a:r>
              <a:rPr lang="pl-PL" sz="900" dirty="0" err="1">
                <a:latin typeface="Aptos Mono" panose="020F0502020204030204" pitchFamily="49" charset="0"/>
              </a:rPr>
              <a:t>Group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Key</a:t>
            </a:r>
            <a:r>
              <a:rPr lang="pl-PL" sz="900" dirty="0">
                <a:latin typeface="Aptos Mono" panose="020F0502020204030204" pitchFamily="49" charset="0"/>
              </a:rPr>
              <a:t>: 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endParaRPr lang="pl-PL" sz="900" dirty="0">
              <a:latin typeface="Aptos Mono" panose="020F0502020204030204" pitchFamily="49" charset="0"/>
            </a:endParaRP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b="1" dirty="0">
                <a:latin typeface="Aptos Mono" panose="020F0502020204030204" pitchFamily="49" charset="0"/>
              </a:rPr>
              <a:t>  CTE </a:t>
            </a:r>
            <a:r>
              <a:rPr lang="pl-PL" sz="900" b="1" dirty="0" err="1">
                <a:latin typeface="Aptos Mono" panose="020F0502020204030204" pitchFamily="49" charset="0"/>
              </a:rPr>
              <a:t>request</a:t>
            </a:r>
            <a:endParaRPr lang="pl-PL" sz="900" b="1" dirty="0">
              <a:latin typeface="Aptos Mono" panose="020F0502020204030204" pitchFamily="49" charset="0"/>
            </a:endParaRPr>
          </a:p>
          <a:p>
            <a:r>
              <a:rPr lang="pl-PL" sz="900" b="1" dirty="0">
                <a:latin typeface="Aptos Mono" panose="020F0502020204030204" pitchFamily="49" charset="0"/>
              </a:rPr>
              <a:t>    -&gt; Index </a:t>
            </a:r>
            <a:r>
              <a:rPr lang="pl-PL" sz="900" b="1" dirty="0" err="1">
                <a:latin typeface="Aptos Mono" panose="020F0502020204030204" pitchFamily="49" charset="0"/>
              </a:rPr>
              <a:t>Only</a:t>
            </a:r>
            <a:r>
              <a:rPr lang="pl-PL" sz="900" b="1" dirty="0">
                <a:latin typeface="Aptos Mono" panose="020F0502020204030204" pitchFamily="49" charset="0"/>
              </a:rPr>
              <a:t> Scan </a:t>
            </a:r>
            <a:r>
              <a:rPr lang="pl-PL" sz="900" b="1" dirty="0" err="1">
                <a:latin typeface="Aptos Mono" panose="020F0502020204030204" pitchFamily="49" charset="0"/>
              </a:rPr>
              <a:t>using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c_ix</a:t>
            </a:r>
            <a:r>
              <a:rPr lang="pl-PL" sz="900" b="1" dirty="0">
                <a:latin typeface="Aptos Mono" panose="020F0502020204030204" pitchFamily="49" charset="0"/>
              </a:rPr>
              <a:t> on </a:t>
            </a:r>
            <a:r>
              <a:rPr lang="pl-PL" sz="900" b="1" dirty="0" err="1">
                <a:latin typeface="Aptos Mono" panose="020F0502020204030204" pitchFamily="49" charset="0"/>
              </a:rPr>
              <a:t>customers</a:t>
            </a:r>
            <a:r>
              <a:rPr lang="pl-PL" sz="900" b="1" dirty="0">
                <a:latin typeface="Aptos Mono" panose="020F0502020204030204" pitchFamily="49" charset="0"/>
              </a:rPr>
              <a:t> c (</a:t>
            </a:r>
            <a:r>
              <a:rPr lang="pl-PL" sz="900" b="1" dirty="0" err="1">
                <a:latin typeface="Aptos Mono" panose="020F0502020204030204" pitchFamily="49" charset="0"/>
              </a:rPr>
              <a:t>cost</a:t>
            </a:r>
            <a:r>
              <a:rPr lang="pl-PL" sz="900" b="1" dirty="0">
                <a:latin typeface="Aptos Mono" panose="020F0502020204030204" pitchFamily="49" charset="0"/>
              </a:rPr>
              <a:t>=0.29..2052.29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=100000 </a:t>
            </a:r>
            <a:r>
              <a:rPr lang="pl-PL" sz="900" b="1" dirty="0" err="1">
                <a:latin typeface="Aptos Mono" panose="020F0502020204030204" pitchFamily="49" charset="0"/>
              </a:rPr>
              <a:t>width</a:t>
            </a:r>
            <a:r>
              <a:rPr lang="pl-PL" sz="900" b="1" dirty="0">
                <a:latin typeface="Aptos Mono" panose="020F0502020204030204" pitchFamily="49" charset="0"/>
              </a:rPr>
              <a:t>=4) (</a:t>
            </a:r>
            <a:r>
              <a:rPr lang="pl-PL" sz="900" b="1" dirty="0" err="1">
                <a:latin typeface="Aptos Mono" panose="020F0502020204030204" pitchFamily="49" charset="0"/>
              </a:rPr>
              <a:t>actual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time</a:t>
            </a:r>
            <a:r>
              <a:rPr lang="pl-PL" sz="900" b="1" dirty="0">
                <a:latin typeface="Aptos Mono" panose="020F0502020204030204" pitchFamily="49" charset="0"/>
              </a:rPr>
              <a:t>=0.015..7.759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=100000 </a:t>
            </a:r>
            <a:r>
              <a:rPr lang="pl-PL" sz="900" b="1" dirty="0" err="1">
                <a:latin typeface="Aptos Mono" panose="020F0502020204030204" pitchFamily="49" charset="0"/>
              </a:rPr>
              <a:t>loops</a:t>
            </a:r>
            <a:r>
              <a:rPr lang="pl-PL" sz="900" b="1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b="1" dirty="0">
                <a:latin typeface="Aptos Mono" panose="020F0502020204030204" pitchFamily="49" charset="0"/>
              </a:rPr>
              <a:t>         </a:t>
            </a:r>
            <a:r>
              <a:rPr lang="pl-PL" sz="900" b="1" dirty="0" err="1">
                <a:latin typeface="Aptos Mono" panose="020F0502020204030204" pitchFamily="49" charset="0"/>
              </a:rPr>
              <a:t>Heap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Fetches</a:t>
            </a:r>
            <a:r>
              <a:rPr lang="pl-PL" sz="900" b="1" dirty="0">
                <a:latin typeface="Aptos Mono" panose="020F0502020204030204" pitchFamily="49" charset="0"/>
              </a:rPr>
              <a:t>: 0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-&gt;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Semi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Join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=2.55..12146.46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=0.027..125.817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Cond</a:t>
            </a:r>
            <a:r>
              <a:rPr lang="pl-PL" sz="900" dirty="0">
                <a:latin typeface="Aptos Mono" panose="020F0502020204030204" pitchFamily="49" charset="0"/>
              </a:rPr>
              <a:t>: (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r>
              <a:rPr lang="pl-PL" sz="900" dirty="0">
                <a:latin typeface="Aptos Mono" panose="020F0502020204030204" pitchFamily="49" charset="0"/>
              </a:rPr>
              <a:t> = request.id)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Index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orders</a:t>
            </a:r>
            <a:r>
              <a:rPr lang="pl-PL" sz="900" dirty="0">
                <a:latin typeface="Aptos Mono" panose="020F0502020204030204" pitchFamily="49" charset="0"/>
              </a:rPr>
              <a:t> o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=0.57..4897548.71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=150100000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=0.007..61.174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=300001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CTE Scan on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=0.00..2000.00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=0.017..24.345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Planning Time: 0.171 ms</a:t>
            </a:r>
          </a:p>
          <a:p>
            <a:r>
              <a:rPr lang="pl-PL" sz="900" dirty="0" err="1">
                <a:latin typeface="Aptos Mono" panose="020F0502020204030204" pitchFamily="49" charset="0"/>
              </a:rPr>
              <a:t>Execution</a:t>
            </a:r>
            <a:r>
              <a:rPr lang="pl-PL" sz="900" dirty="0">
                <a:latin typeface="Aptos Mono" panose="020F0502020204030204" pitchFamily="49" charset="0"/>
              </a:rPr>
              <a:t> Time: 158.362 ms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E974F04-850F-DDAE-4566-036F4837CBDC}"/>
              </a:ext>
            </a:extLst>
          </p:cNvPr>
          <p:cNvSpPr txBox="1"/>
          <p:nvPr/>
        </p:nvSpPr>
        <p:spPr>
          <a:xfrm>
            <a:off x="3685903" y="4842191"/>
            <a:ext cx="8351520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i="0" dirty="0">
                <a:effectLst/>
                <a:latin typeface="fkGroteskNeue"/>
              </a:rPr>
              <a:t>CTE </a:t>
            </a:r>
            <a:r>
              <a:rPr lang="pl-PL" sz="1400" b="1" i="0" dirty="0" err="1">
                <a:effectLst/>
                <a:latin typeface="fkGroteskNeue"/>
              </a:rPr>
              <a:t>request</a:t>
            </a:r>
            <a:r>
              <a:rPr lang="pl-PL" sz="1400" b="1" i="0" dirty="0">
                <a:effectLst/>
                <a:latin typeface="fkGroteskNeue"/>
              </a:rPr>
              <a:t> (Index </a:t>
            </a:r>
            <a:r>
              <a:rPr lang="pl-PL" sz="1400" b="1" i="0" dirty="0" err="1">
                <a:effectLst/>
                <a:latin typeface="fkGroteskNeue"/>
              </a:rPr>
              <a:t>Only</a:t>
            </a:r>
            <a:r>
              <a:rPr lang="pl-PL" sz="1400" b="1" i="0" dirty="0">
                <a:effectLst/>
                <a:latin typeface="fkGroteskNeue"/>
              </a:rPr>
              <a:t> Scan)</a:t>
            </a:r>
            <a:endParaRPr lang="pl-PL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0" i="0" dirty="0" err="1">
                <a:effectLst/>
                <a:latin typeface="fkGroteskNeue"/>
              </a:rPr>
              <a:t>PostgreSQL</a:t>
            </a:r>
            <a:r>
              <a:rPr lang="pl-PL" sz="1400" b="0" i="0" dirty="0">
                <a:effectLst/>
                <a:latin typeface="fkGroteskNeue"/>
              </a:rPr>
              <a:t> korzysta z indeksu </a:t>
            </a:r>
            <a:r>
              <a:rPr lang="pl-PL" sz="1400" b="0" i="0" dirty="0" err="1">
                <a:effectLst/>
                <a:latin typeface="var(--font-berkeley-mono)"/>
              </a:rPr>
              <a:t>c_ix</a:t>
            </a:r>
            <a:r>
              <a:rPr lang="pl-PL" sz="1400" b="0" i="0" dirty="0">
                <a:effectLst/>
                <a:latin typeface="fkGroteskNeue"/>
              </a:rPr>
              <a:t> na tabeli </a:t>
            </a:r>
            <a:r>
              <a:rPr lang="pl-PL" sz="1400" b="0" i="0" dirty="0" err="1">
                <a:effectLst/>
                <a:latin typeface="var(--font-berkeley-mono)"/>
              </a:rPr>
              <a:t>customers</a:t>
            </a:r>
            <a:r>
              <a:rPr lang="pl-PL" sz="1400" b="0" i="0" dirty="0">
                <a:effectLst/>
                <a:latin typeface="fkGroteskNeue"/>
              </a:rPr>
              <a:t>. Wskazuje to, że odczyt ogranicza się do indeksu i nie wymaga </a:t>
            </a:r>
            <a:r>
              <a:rPr lang="pl-PL" sz="1400" b="0" i="0" dirty="0" err="1">
                <a:effectLst/>
                <a:latin typeface="fkGroteskNeue"/>
              </a:rPr>
              <a:t>fetchowania</a:t>
            </a:r>
            <a:r>
              <a:rPr lang="pl-PL" sz="1400" b="0" i="0" dirty="0">
                <a:effectLst/>
                <a:latin typeface="fkGroteskNeue"/>
              </a:rPr>
              <a:t> rekordów z dysku ("</a:t>
            </a:r>
            <a:r>
              <a:rPr lang="pl-PL" sz="1400" b="0" i="0" dirty="0" err="1">
                <a:effectLst/>
                <a:latin typeface="fkGroteskNeue"/>
              </a:rPr>
              <a:t>Heap</a:t>
            </a:r>
            <a:r>
              <a:rPr lang="pl-PL" sz="1400" b="0" i="0" dirty="0">
                <a:effectLst/>
                <a:latin typeface="fkGroteskNeue"/>
              </a:rPr>
              <a:t> </a:t>
            </a:r>
            <a:r>
              <a:rPr lang="pl-PL" sz="1400" b="0" i="0" dirty="0" err="1">
                <a:effectLst/>
                <a:latin typeface="fkGroteskNeue"/>
              </a:rPr>
              <a:t>Fetches</a:t>
            </a:r>
            <a:r>
              <a:rPr lang="pl-PL" sz="1400" b="0" i="0" dirty="0">
                <a:effectLst/>
                <a:latin typeface="fkGroteskNeue"/>
              </a:rPr>
              <a:t>: 0"), co jest bardzo wydajne. Liczba zwróconych wierszy jest zgodna z założeniem — 100 </a:t>
            </a:r>
            <a:r>
              <a:rPr lang="pl-PL" sz="1400" b="0" i="0" dirty="0" err="1">
                <a:effectLst/>
                <a:latin typeface="fkGroteskNeue"/>
              </a:rPr>
              <a:t>tys</a:t>
            </a:r>
            <a:endParaRPr lang="pl-PL" sz="1400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2FD3B40-547E-2080-F0AF-899094A1B7CD}"/>
              </a:ext>
            </a:extLst>
          </p:cNvPr>
          <p:cNvSpPr txBox="1"/>
          <p:nvPr/>
        </p:nvSpPr>
        <p:spPr>
          <a:xfrm>
            <a:off x="5156266" y="105013"/>
            <a:ext cx="418041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EXPLAIN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ANALYZE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MATERIALIZED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id)</a:t>
            </a:r>
            <a:endParaRPr lang="pl-PL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orders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124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3E1B3-A710-059B-9DDA-86B8970A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7547AD7C-75B1-6C6E-DD7F-5E56029C8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CE8F0C3-F16D-6878-679D-0AE14BDC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Analiza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59A44D9-1753-BCAF-D893-7BC87B742730}"/>
              </a:ext>
            </a:extLst>
          </p:cNvPr>
          <p:cNvSpPr txBox="1"/>
          <p:nvPr/>
        </p:nvSpPr>
        <p:spPr>
          <a:xfrm>
            <a:off x="3627121" y="1720840"/>
            <a:ext cx="84690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900" dirty="0" err="1">
                <a:latin typeface="Aptos Mono" panose="020F0502020204030204" pitchFamily="49" charset="0"/>
              </a:rPr>
              <a:t>GroupAggregate</a:t>
            </a:r>
            <a:r>
              <a:rPr lang="pl-PL" sz="900" dirty="0">
                <a:latin typeface="Aptos Mono" panose="020F0502020204030204" pitchFamily="49" charset="0"/>
              </a:rPr>
              <a:t> 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=2054.84..16699.38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=12)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=0.036..155.654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</a:t>
            </a:r>
            <a:r>
              <a:rPr lang="pl-PL" sz="900" dirty="0" err="1">
                <a:latin typeface="Aptos Mono" panose="020F0502020204030204" pitchFamily="49" charset="0"/>
              </a:rPr>
              <a:t>Group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Key</a:t>
            </a:r>
            <a:r>
              <a:rPr lang="pl-PL" sz="900" dirty="0">
                <a:latin typeface="Aptos Mono" panose="020F0502020204030204" pitchFamily="49" charset="0"/>
              </a:rPr>
              <a:t>: 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endParaRPr lang="pl-PL" sz="900" dirty="0">
              <a:latin typeface="Aptos Mono" panose="020F0502020204030204" pitchFamily="49" charset="0"/>
            </a:endParaRP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CTE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-&gt; Index </a:t>
            </a:r>
            <a:r>
              <a:rPr lang="pl-PL" sz="900" dirty="0" err="1">
                <a:latin typeface="Aptos Mono" panose="020F0502020204030204" pitchFamily="49" charset="0"/>
              </a:rPr>
              <a:t>Only</a:t>
            </a:r>
            <a:r>
              <a:rPr lang="pl-PL" sz="900" dirty="0">
                <a:latin typeface="Aptos Mono" panose="020F0502020204030204" pitchFamily="49" charset="0"/>
              </a:rPr>
              <a:t>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customers</a:t>
            </a:r>
            <a:r>
              <a:rPr lang="pl-PL" sz="900" dirty="0">
                <a:latin typeface="Aptos Mono" panose="020F0502020204030204" pitchFamily="49" charset="0"/>
              </a:rPr>
              <a:t> c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=0.29..2052.29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=0.015..7.759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  </a:t>
            </a:r>
            <a:r>
              <a:rPr lang="pl-PL" sz="900" dirty="0" err="1">
                <a:latin typeface="Aptos Mono" panose="020F0502020204030204" pitchFamily="49" charset="0"/>
              </a:rPr>
              <a:t>Heap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Fetches</a:t>
            </a:r>
            <a:r>
              <a:rPr lang="pl-PL" sz="900" dirty="0">
                <a:latin typeface="Aptos Mono" panose="020F0502020204030204" pitchFamily="49" charset="0"/>
              </a:rPr>
              <a:t>: 0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b="1" dirty="0">
                <a:latin typeface="Aptos Mono" panose="020F0502020204030204" pitchFamily="49" charset="0"/>
              </a:rPr>
              <a:t>  -&gt; </a:t>
            </a:r>
            <a:r>
              <a:rPr lang="pl-PL" sz="900" b="1" dirty="0" err="1">
                <a:latin typeface="Aptos Mono" panose="020F0502020204030204" pitchFamily="49" charset="0"/>
              </a:rPr>
              <a:t>Merge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Semi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Join</a:t>
            </a:r>
            <a:r>
              <a:rPr lang="pl-PL" sz="900" b="1" dirty="0">
                <a:latin typeface="Aptos Mono" panose="020F0502020204030204" pitchFamily="49" charset="0"/>
              </a:rPr>
              <a:t> (</a:t>
            </a:r>
            <a:r>
              <a:rPr lang="pl-PL" sz="900" b="1" dirty="0" err="1">
                <a:latin typeface="Aptos Mono" panose="020F0502020204030204" pitchFamily="49" charset="0"/>
              </a:rPr>
              <a:t>cost</a:t>
            </a:r>
            <a:r>
              <a:rPr lang="pl-PL" sz="900" b="1" dirty="0">
                <a:latin typeface="Aptos Mono" panose="020F0502020204030204" pitchFamily="49" charset="0"/>
              </a:rPr>
              <a:t>=2.55..12146.46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=166709 </a:t>
            </a:r>
            <a:r>
              <a:rPr lang="pl-PL" sz="900" b="1" dirty="0" err="1">
                <a:latin typeface="Aptos Mono" panose="020F0502020204030204" pitchFamily="49" charset="0"/>
              </a:rPr>
              <a:t>width</a:t>
            </a:r>
            <a:r>
              <a:rPr lang="pl-PL" sz="900" b="1" dirty="0">
                <a:latin typeface="Aptos Mono" panose="020F0502020204030204" pitchFamily="49" charset="0"/>
              </a:rPr>
              <a:t>=8) (</a:t>
            </a:r>
            <a:r>
              <a:rPr lang="pl-PL" sz="900" b="1" dirty="0" err="1">
                <a:latin typeface="Aptos Mono" panose="020F0502020204030204" pitchFamily="49" charset="0"/>
              </a:rPr>
              <a:t>actual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time</a:t>
            </a:r>
            <a:r>
              <a:rPr lang="pl-PL" sz="900" b="1" dirty="0">
                <a:latin typeface="Aptos Mono" panose="020F0502020204030204" pitchFamily="49" charset="0"/>
              </a:rPr>
              <a:t>=0.027..125.817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=300000 </a:t>
            </a:r>
            <a:r>
              <a:rPr lang="pl-PL" sz="900" b="1" dirty="0" err="1">
                <a:latin typeface="Aptos Mono" panose="020F0502020204030204" pitchFamily="49" charset="0"/>
              </a:rPr>
              <a:t>loops</a:t>
            </a:r>
            <a:r>
              <a:rPr lang="pl-PL" sz="900" b="1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b="1" dirty="0">
                <a:latin typeface="Aptos Mono" panose="020F0502020204030204" pitchFamily="49" charset="0"/>
              </a:rPr>
              <a:t>       </a:t>
            </a:r>
            <a:r>
              <a:rPr lang="pl-PL" sz="900" b="1" dirty="0" err="1">
                <a:latin typeface="Aptos Mono" panose="020F0502020204030204" pitchFamily="49" charset="0"/>
              </a:rPr>
              <a:t>Merge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Cond</a:t>
            </a:r>
            <a:r>
              <a:rPr lang="pl-PL" sz="900" b="1" dirty="0">
                <a:latin typeface="Aptos Mono" panose="020F0502020204030204" pitchFamily="49" charset="0"/>
              </a:rPr>
              <a:t>: (</a:t>
            </a:r>
            <a:r>
              <a:rPr lang="pl-PL" sz="900" b="1" dirty="0" err="1">
                <a:latin typeface="Aptos Mono" panose="020F0502020204030204" pitchFamily="49" charset="0"/>
              </a:rPr>
              <a:t>o.customer_id</a:t>
            </a:r>
            <a:r>
              <a:rPr lang="pl-PL" sz="900" b="1" dirty="0">
                <a:latin typeface="Aptos Mono" panose="020F0502020204030204" pitchFamily="49" charset="0"/>
              </a:rPr>
              <a:t> = request.id)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Index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orders</a:t>
            </a:r>
            <a:r>
              <a:rPr lang="pl-PL" sz="900" dirty="0">
                <a:latin typeface="Aptos Mono" panose="020F0502020204030204" pitchFamily="49" charset="0"/>
              </a:rPr>
              <a:t> o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=0.57..4897548.71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=150100000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=0.007..61.174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=300001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CTE Scan on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=0.00..2000.00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=0.017..24.345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Planning Time: 0.171 ms</a:t>
            </a:r>
          </a:p>
          <a:p>
            <a:r>
              <a:rPr lang="pl-PL" sz="900" dirty="0" err="1">
                <a:latin typeface="Aptos Mono" panose="020F0502020204030204" pitchFamily="49" charset="0"/>
              </a:rPr>
              <a:t>Execution</a:t>
            </a:r>
            <a:r>
              <a:rPr lang="pl-PL" sz="900" dirty="0">
                <a:latin typeface="Aptos Mono" panose="020F0502020204030204" pitchFamily="49" charset="0"/>
              </a:rPr>
              <a:t> Time: 158.362 ms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18272DE-A58C-500F-7A46-4BC965C8CA17}"/>
              </a:ext>
            </a:extLst>
          </p:cNvPr>
          <p:cNvSpPr txBox="1"/>
          <p:nvPr/>
        </p:nvSpPr>
        <p:spPr>
          <a:xfrm>
            <a:off x="3685903" y="4842191"/>
            <a:ext cx="8351520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 err="1"/>
              <a:t>Merge</a:t>
            </a:r>
            <a:r>
              <a:rPr lang="pl-PL" sz="1400" b="1" dirty="0"/>
              <a:t> </a:t>
            </a:r>
            <a:r>
              <a:rPr lang="pl-PL" sz="1400" b="1" dirty="0" err="1"/>
              <a:t>Semi</a:t>
            </a:r>
            <a:r>
              <a:rPr lang="pl-PL" sz="1400" b="1" dirty="0"/>
              <a:t> </a:t>
            </a:r>
            <a:r>
              <a:rPr lang="pl-PL" sz="1400" b="1" dirty="0" err="1"/>
              <a:t>Join</a:t>
            </a:r>
            <a:endParaRPr lang="pl-PL" sz="14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Główna operacja łączenia (</a:t>
            </a:r>
            <a:r>
              <a:rPr lang="pl-PL" sz="1400" dirty="0" err="1"/>
              <a:t>Merge</a:t>
            </a:r>
            <a:r>
              <a:rPr lang="pl-PL" sz="1400" dirty="0"/>
              <a:t> </a:t>
            </a:r>
            <a:r>
              <a:rPr lang="pl-PL" sz="1400" dirty="0" err="1"/>
              <a:t>Semi</a:t>
            </a:r>
            <a:r>
              <a:rPr lang="pl-PL" sz="1400" dirty="0"/>
              <a:t> </a:t>
            </a:r>
            <a:r>
              <a:rPr lang="pl-PL" sz="1400" dirty="0" err="1"/>
              <a:t>Join</a:t>
            </a:r>
            <a:r>
              <a:rPr lang="pl-PL" sz="1400" dirty="0"/>
              <a:t>) odbywa się między tabelą </a:t>
            </a:r>
            <a:r>
              <a:rPr lang="pl-PL" sz="1400" dirty="0" err="1"/>
              <a:t>orders</a:t>
            </a:r>
            <a:r>
              <a:rPr lang="pl-PL" sz="1400" dirty="0"/>
              <a:t> a wynikiem CTE. </a:t>
            </a:r>
            <a:r>
              <a:rPr lang="pl-PL" sz="1400" dirty="0" err="1"/>
              <a:t>Semi</a:t>
            </a:r>
            <a:r>
              <a:rPr lang="pl-PL" sz="1400" dirty="0"/>
              <a:t> </a:t>
            </a:r>
            <a:r>
              <a:rPr lang="pl-PL" sz="1400" dirty="0" err="1"/>
              <a:t>join</a:t>
            </a:r>
            <a:r>
              <a:rPr lang="pl-PL" sz="1400" dirty="0"/>
              <a:t> jest używany dla warunku IN, pozwalając sprawnie porównać duże zbiory. Kluczowe jest, że obie tabele są posortowane i dołączone przez odpowiedni indeks, co umożliwia szybkie łączenie.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28105E3-A20F-2FAA-9DE9-3FB5BF65C480}"/>
              </a:ext>
            </a:extLst>
          </p:cNvPr>
          <p:cNvSpPr txBox="1"/>
          <p:nvPr/>
        </p:nvSpPr>
        <p:spPr>
          <a:xfrm>
            <a:off x="5033252" y="69668"/>
            <a:ext cx="418041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EXPLAIN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ANALYZE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MATERIALIZED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id)</a:t>
            </a:r>
            <a:endParaRPr lang="pl-PL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orders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7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9CD1-C0AE-A757-E1E8-240AA662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BF6319BC-62E4-29EA-220E-CF486BB6B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BF757C5-AF78-260B-C85F-5192CC57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Analiza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4E1A1E5-3313-97F2-B881-35BC470505D9}"/>
              </a:ext>
            </a:extLst>
          </p:cNvPr>
          <p:cNvSpPr txBox="1"/>
          <p:nvPr/>
        </p:nvSpPr>
        <p:spPr>
          <a:xfrm>
            <a:off x="3627121" y="1720840"/>
            <a:ext cx="84690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900" dirty="0" err="1">
                <a:latin typeface="Aptos Mono" panose="020F0502020204030204" pitchFamily="49" charset="0"/>
              </a:rPr>
              <a:t>GroupAggregate</a:t>
            </a:r>
            <a:r>
              <a:rPr lang="pl-PL" sz="900" dirty="0">
                <a:latin typeface="Aptos Mono" panose="020F0502020204030204" pitchFamily="49" charset="0"/>
              </a:rPr>
              <a:t> 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=2054.84..16699.38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=12)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=0.036..155.654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</a:t>
            </a:r>
            <a:r>
              <a:rPr lang="pl-PL" sz="900" dirty="0" err="1">
                <a:latin typeface="Aptos Mono" panose="020F0502020204030204" pitchFamily="49" charset="0"/>
              </a:rPr>
              <a:t>Group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Key</a:t>
            </a:r>
            <a:r>
              <a:rPr lang="pl-PL" sz="900" dirty="0">
                <a:latin typeface="Aptos Mono" panose="020F0502020204030204" pitchFamily="49" charset="0"/>
              </a:rPr>
              <a:t>: 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endParaRPr lang="pl-PL" sz="900" dirty="0">
              <a:latin typeface="Aptos Mono" panose="020F0502020204030204" pitchFamily="49" charset="0"/>
            </a:endParaRP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CTE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-&gt; Index </a:t>
            </a:r>
            <a:r>
              <a:rPr lang="pl-PL" sz="900" dirty="0" err="1">
                <a:latin typeface="Aptos Mono" panose="020F0502020204030204" pitchFamily="49" charset="0"/>
              </a:rPr>
              <a:t>Only</a:t>
            </a:r>
            <a:r>
              <a:rPr lang="pl-PL" sz="900" dirty="0">
                <a:latin typeface="Aptos Mono" panose="020F0502020204030204" pitchFamily="49" charset="0"/>
              </a:rPr>
              <a:t>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customers</a:t>
            </a:r>
            <a:r>
              <a:rPr lang="pl-PL" sz="900" dirty="0">
                <a:latin typeface="Aptos Mono" panose="020F0502020204030204" pitchFamily="49" charset="0"/>
              </a:rPr>
              <a:t> c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=0.29..2052.29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=0.015..7.759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  </a:t>
            </a:r>
            <a:r>
              <a:rPr lang="pl-PL" sz="900" dirty="0" err="1">
                <a:latin typeface="Aptos Mono" panose="020F0502020204030204" pitchFamily="49" charset="0"/>
              </a:rPr>
              <a:t>Heap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Fetches</a:t>
            </a:r>
            <a:r>
              <a:rPr lang="pl-PL" sz="900" dirty="0">
                <a:latin typeface="Aptos Mono" panose="020F0502020204030204" pitchFamily="49" charset="0"/>
              </a:rPr>
              <a:t>: 0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-&gt;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Semi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Join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=2.55..12146.46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=0.027..125.817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Cond</a:t>
            </a:r>
            <a:r>
              <a:rPr lang="pl-PL" sz="900" dirty="0">
                <a:latin typeface="Aptos Mono" panose="020F0502020204030204" pitchFamily="49" charset="0"/>
              </a:rPr>
              <a:t>: (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r>
              <a:rPr lang="pl-PL" sz="900" dirty="0">
                <a:latin typeface="Aptos Mono" panose="020F0502020204030204" pitchFamily="49" charset="0"/>
              </a:rPr>
              <a:t> = request.id)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b="1" dirty="0">
                <a:latin typeface="Aptos Mono" panose="020F0502020204030204" pitchFamily="49" charset="0"/>
              </a:rPr>
              <a:t>       -&gt; Index Scan </a:t>
            </a:r>
            <a:r>
              <a:rPr lang="pl-PL" sz="900" b="1" dirty="0" err="1">
                <a:latin typeface="Aptos Mono" panose="020F0502020204030204" pitchFamily="49" charset="0"/>
              </a:rPr>
              <a:t>using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co_ix</a:t>
            </a:r>
            <a:r>
              <a:rPr lang="pl-PL" sz="900" b="1" dirty="0">
                <a:latin typeface="Aptos Mono" panose="020F0502020204030204" pitchFamily="49" charset="0"/>
              </a:rPr>
              <a:t> on </a:t>
            </a:r>
            <a:r>
              <a:rPr lang="pl-PL" sz="900" b="1" dirty="0" err="1">
                <a:latin typeface="Aptos Mono" panose="020F0502020204030204" pitchFamily="49" charset="0"/>
              </a:rPr>
              <a:t>orders</a:t>
            </a:r>
            <a:r>
              <a:rPr lang="pl-PL" sz="900" b="1" dirty="0">
                <a:latin typeface="Aptos Mono" panose="020F0502020204030204" pitchFamily="49" charset="0"/>
              </a:rPr>
              <a:t> o (</a:t>
            </a:r>
            <a:r>
              <a:rPr lang="pl-PL" sz="900" b="1" dirty="0" err="1">
                <a:latin typeface="Aptos Mono" panose="020F0502020204030204" pitchFamily="49" charset="0"/>
              </a:rPr>
              <a:t>cost</a:t>
            </a:r>
            <a:r>
              <a:rPr lang="pl-PL" sz="900" b="1" dirty="0">
                <a:latin typeface="Aptos Mono" panose="020F0502020204030204" pitchFamily="49" charset="0"/>
              </a:rPr>
              <a:t>=0.57..4897548.71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=150100000 </a:t>
            </a:r>
            <a:r>
              <a:rPr lang="pl-PL" sz="900" b="1" dirty="0" err="1">
                <a:latin typeface="Aptos Mono" panose="020F0502020204030204" pitchFamily="49" charset="0"/>
              </a:rPr>
              <a:t>width</a:t>
            </a:r>
            <a:r>
              <a:rPr lang="pl-PL" sz="900" b="1" dirty="0">
                <a:latin typeface="Aptos Mono" panose="020F0502020204030204" pitchFamily="49" charset="0"/>
              </a:rPr>
              <a:t>=8) (</a:t>
            </a:r>
            <a:r>
              <a:rPr lang="pl-PL" sz="900" b="1" dirty="0" err="1">
                <a:latin typeface="Aptos Mono" panose="020F0502020204030204" pitchFamily="49" charset="0"/>
              </a:rPr>
              <a:t>actual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time</a:t>
            </a:r>
            <a:r>
              <a:rPr lang="pl-PL" sz="900" b="1" dirty="0">
                <a:latin typeface="Aptos Mono" panose="020F0502020204030204" pitchFamily="49" charset="0"/>
              </a:rPr>
              <a:t>=0.007..61.174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=300001 </a:t>
            </a:r>
            <a:r>
              <a:rPr lang="pl-PL" sz="900" b="1" dirty="0" err="1">
                <a:latin typeface="Aptos Mono" panose="020F0502020204030204" pitchFamily="49" charset="0"/>
              </a:rPr>
              <a:t>loops</a:t>
            </a:r>
            <a:r>
              <a:rPr lang="pl-PL" sz="900" b="1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CTE Scan on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=0.00..2000.00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=0.017..24.345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Planning Time: 0.171 ms</a:t>
            </a:r>
          </a:p>
          <a:p>
            <a:r>
              <a:rPr lang="pl-PL" sz="900" dirty="0" err="1">
                <a:latin typeface="Aptos Mono" panose="020F0502020204030204" pitchFamily="49" charset="0"/>
              </a:rPr>
              <a:t>Execution</a:t>
            </a:r>
            <a:r>
              <a:rPr lang="pl-PL" sz="900" dirty="0">
                <a:latin typeface="Aptos Mono" panose="020F0502020204030204" pitchFamily="49" charset="0"/>
              </a:rPr>
              <a:t> Time: 158.362 ms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FCE8915-9435-F87E-209C-C1C9076BD5C4}"/>
              </a:ext>
            </a:extLst>
          </p:cNvPr>
          <p:cNvSpPr txBox="1"/>
          <p:nvPr/>
        </p:nvSpPr>
        <p:spPr>
          <a:xfrm>
            <a:off x="3685903" y="5007654"/>
            <a:ext cx="8351520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Index Scan on </a:t>
            </a:r>
            <a:r>
              <a:rPr lang="pl-PL" sz="1400" b="1" dirty="0" err="1"/>
              <a:t>orders</a:t>
            </a:r>
            <a:endParaRPr lang="pl-PL" sz="14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Tabela </a:t>
            </a:r>
            <a:r>
              <a:rPr lang="pl-PL" sz="1400" dirty="0" err="1"/>
              <a:t>orders</a:t>
            </a:r>
            <a:r>
              <a:rPr lang="pl-PL" sz="1400" dirty="0"/>
              <a:t> jest przeszukiwana za pomocą indeksu (</a:t>
            </a:r>
            <a:r>
              <a:rPr lang="pl-PL" sz="1400" dirty="0" err="1"/>
              <a:t>co_ix</a:t>
            </a:r>
            <a:r>
              <a:rPr lang="pl-PL" sz="1400" dirty="0"/>
              <a:t>). To szybka operacja, lepsza od pełnego skanowania sekwencyjnego, a liczba zwróconych wierszy (300 tys.) odpowiada warunkowi zapytania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8D294CA-80D6-0AE0-15BB-8A3D73FB1ED0}"/>
              </a:ext>
            </a:extLst>
          </p:cNvPr>
          <p:cNvSpPr txBox="1"/>
          <p:nvPr/>
        </p:nvSpPr>
        <p:spPr>
          <a:xfrm>
            <a:off x="5033252" y="69668"/>
            <a:ext cx="418041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EXPLAIN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ANALYZE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MATERIALIZED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id)</a:t>
            </a:r>
            <a:endParaRPr lang="pl-PL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orders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78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CC50-560C-3D8E-69D1-0EF69FC2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F7274540-7314-C58A-FD3F-BF5A3AA10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5C6E47F-21E1-52BF-1280-91A2183FF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Analiza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D7B1C07-E9C9-80D0-DC1E-6675485C4E1C}"/>
              </a:ext>
            </a:extLst>
          </p:cNvPr>
          <p:cNvSpPr txBox="1"/>
          <p:nvPr/>
        </p:nvSpPr>
        <p:spPr>
          <a:xfrm>
            <a:off x="3627121" y="1720840"/>
            <a:ext cx="84690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900" b="1" dirty="0" err="1">
                <a:latin typeface="Aptos Mono" panose="020F0502020204030204" pitchFamily="49" charset="0"/>
              </a:rPr>
              <a:t>GroupAggregate</a:t>
            </a:r>
            <a:r>
              <a:rPr lang="pl-PL" sz="900" b="1" dirty="0">
                <a:latin typeface="Aptos Mono" panose="020F0502020204030204" pitchFamily="49" charset="0"/>
              </a:rPr>
              <a:t>  (</a:t>
            </a:r>
            <a:r>
              <a:rPr lang="pl-PL" sz="900" b="1" dirty="0" err="1">
                <a:latin typeface="Aptos Mono" panose="020F0502020204030204" pitchFamily="49" charset="0"/>
              </a:rPr>
              <a:t>cost</a:t>
            </a:r>
            <a:r>
              <a:rPr lang="pl-PL" sz="900" b="1" dirty="0">
                <a:latin typeface="Aptos Mono" panose="020F0502020204030204" pitchFamily="49" charset="0"/>
              </a:rPr>
              <a:t>=2054.84..16699.38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=166709 </a:t>
            </a:r>
            <a:r>
              <a:rPr lang="pl-PL" sz="900" b="1" dirty="0" err="1">
                <a:latin typeface="Aptos Mono" panose="020F0502020204030204" pitchFamily="49" charset="0"/>
              </a:rPr>
              <a:t>width</a:t>
            </a:r>
            <a:r>
              <a:rPr lang="pl-PL" sz="900" b="1" dirty="0">
                <a:latin typeface="Aptos Mono" panose="020F0502020204030204" pitchFamily="49" charset="0"/>
              </a:rPr>
              <a:t>=12) (</a:t>
            </a:r>
            <a:r>
              <a:rPr lang="pl-PL" sz="900" b="1" dirty="0" err="1">
                <a:latin typeface="Aptos Mono" panose="020F0502020204030204" pitchFamily="49" charset="0"/>
              </a:rPr>
              <a:t>actual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time</a:t>
            </a:r>
            <a:r>
              <a:rPr lang="pl-PL" sz="900" b="1" dirty="0">
                <a:latin typeface="Aptos Mono" panose="020F0502020204030204" pitchFamily="49" charset="0"/>
              </a:rPr>
              <a:t>=0.036..155.654 </a:t>
            </a:r>
            <a:r>
              <a:rPr lang="pl-PL" sz="900" b="1" dirty="0" err="1">
                <a:latin typeface="Aptos Mono" panose="020F0502020204030204" pitchFamily="49" charset="0"/>
              </a:rPr>
              <a:t>rows</a:t>
            </a:r>
            <a:r>
              <a:rPr lang="pl-PL" sz="900" b="1" dirty="0">
                <a:latin typeface="Aptos Mono" panose="020F0502020204030204" pitchFamily="49" charset="0"/>
              </a:rPr>
              <a:t>=100000 </a:t>
            </a:r>
            <a:r>
              <a:rPr lang="pl-PL" sz="900" b="1" dirty="0" err="1">
                <a:latin typeface="Aptos Mono" panose="020F0502020204030204" pitchFamily="49" charset="0"/>
              </a:rPr>
              <a:t>loops</a:t>
            </a:r>
            <a:r>
              <a:rPr lang="pl-PL" sz="900" b="1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b="1" dirty="0">
                <a:latin typeface="Aptos Mono" panose="020F0502020204030204" pitchFamily="49" charset="0"/>
              </a:rPr>
              <a:t>  </a:t>
            </a:r>
            <a:r>
              <a:rPr lang="pl-PL" sz="900" b="1" dirty="0" err="1">
                <a:latin typeface="Aptos Mono" panose="020F0502020204030204" pitchFamily="49" charset="0"/>
              </a:rPr>
              <a:t>Group</a:t>
            </a:r>
            <a:r>
              <a:rPr lang="pl-PL" sz="900" b="1" dirty="0">
                <a:latin typeface="Aptos Mono" panose="020F0502020204030204" pitchFamily="49" charset="0"/>
              </a:rPr>
              <a:t> </a:t>
            </a:r>
            <a:r>
              <a:rPr lang="pl-PL" sz="900" b="1" dirty="0" err="1">
                <a:latin typeface="Aptos Mono" panose="020F0502020204030204" pitchFamily="49" charset="0"/>
              </a:rPr>
              <a:t>Key</a:t>
            </a:r>
            <a:r>
              <a:rPr lang="pl-PL" sz="900" b="1" dirty="0">
                <a:latin typeface="Aptos Mono" panose="020F0502020204030204" pitchFamily="49" charset="0"/>
              </a:rPr>
              <a:t>: </a:t>
            </a:r>
            <a:r>
              <a:rPr lang="pl-PL" sz="900" b="1" dirty="0" err="1">
                <a:latin typeface="Aptos Mono" panose="020F0502020204030204" pitchFamily="49" charset="0"/>
              </a:rPr>
              <a:t>o.customer_id</a:t>
            </a:r>
            <a:endParaRPr lang="pl-PL" sz="900" b="1" dirty="0">
              <a:latin typeface="Aptos Mono" panose="020F0502020204030204" pitchFamily="49" charset="0"/>
            </a:endParaRP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CTE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-&gt; Index </a:t>
            </a:r>
            <a:r>
              <a:rPr lang="pl-PL" sz="900" dirty="0" err="1">
                <a:latin typeface="Aptos Mono" panose="020F0502020204030204" pitchFamily="49" charset="0"/>
              </a:rPr>
              <a:t>Only</a:t>
            </a:r>
            <a:r>
              <a:rPr lang="pl-PL" sz="900" dirty="0">
                <a:latin typeface="Aptos Mono" panose="020F0502020204030204" pitchFamily="49" charset="0"/>
              </a:rPr>
              <a:t>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customers</a:t>
            </a:r>
            <a:r>
              <a:rPr lang="pl-PL" sz="900" dirty="0">
                <a:latin typeface="Aptos Mono" panose="020F0502020204030204" pitchFamily="49" charset="0"/>
              </a:rPr>
              <a:t> c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=0.29..2052.29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=0.015..7.759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  </a:t>
            </a:r>
            <a:r>
              <a:rPr lang="pl-PL" sz="900" dirty="0" err="1">
                <a:latin typeface="Aptos Mono" panose="020F0502020204030204" pitchFamily="49" charset="0"/>
              </a:rPr>
              <a:t>Heap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Fetches</a:t>
            </a:r>
            <a:r>
              <a:rPr lang="pl-PL" sz="900" dirty="0">
                <a:latin typeface="Aptos Mono" panose="020F0502020204030204" pitchFamily="49" charset="0"/>
              </a:rPr>
              <a:t>: 0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-&gt;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Semi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Join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=2.55..12146.46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=0.027..125.817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Cond</a:t>
            </a:r>
            <a:r>
              <a:rPr lang="pl-PL" sz="900" dirty="0">
                <a:latin typeface="Aptos Mono" panose="020F0502020204030204" pitchFamily="49" charset="0"/>
              </a:rPr>
              <a:t>: (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r>
              <a:rPr lang="pl-PL" sz="900" dirty="0">
                <a:latin typeface="Aptos Mono" panose="020F0502020204030204" pitchFamily="49" charset="0"/>
              </a:rPr>
              <a:t> = request.id)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Index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orders</a:t>
            </a:r>
            <a:r>
              <a:rPr lang="pl-PL" sz="900" dirty="0">
                <a:latin typeface="Aptos Mono" panose="020F0502020204030204" pitchFamily="49" charset="0"/>
              </a:rPr>
              <a:t> o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=0.57..4897548.71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=150100000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=0.007..61.174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=300001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CTE Scan on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=0.00..2000.00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=0.017..24.345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Planning Time: 0.171 ms</a:t>
            </a:r>
          </a:p>
          <a:p>
            <a:r>
              <a:rPr lang="pl-PL" sz="900" dirty="0" err="1">
                <a:latin typeface="Aptos Mono" panose="020F0502020204030204" pitchFamily="49" charset="0"/>
              </a:rPr>
              <a:t>Execution</a:t>
            </a:r>
            <a:r>
              <a:rPr lang="pl-PL" sz="900" dirty="0">
                <a:latin typeface="Aptos Mono" panose="020F0502020204030204" pitchFamily="49" charset="0"/>
              </a:rPr>
              <a:t> Time: 158.362 ms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65BF929-CD2E-CBBD-D7A3-A0ECD5AE445D}"/>
              </a:ext>
            </a:extLst>
          </p:cNvPr>
          <p:cNvSpPr txBox="1"/>
          <p:nvPr/>
        </p:nvSpPr>
        <p:spPr>
          <a:xfrm>
            <a:off x="3685903" y="5007654"/>
            <a:ext cx="8351520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 err="1"/>
              <a:t>GroupAggregate</a:t>
            </a:r>
            <a:endParaRPr lang="pl-PL" sz="14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Połączenie wyników jest następnie agregowane (COUNT) wg </a:t>
            </a:r>
            <a:r>
              <a:rPr lang="pl-PL" sz="1400" dirty="0" err="1"/>
              <a:t>customer_id</a:t>
            </a:r>
            <a:r>
              <a:rPr lang="pl-PL" sz="1400" dirty="0"/>
              <a:t>, co jest optymalizowane przez wcześniejsze sortowanie wyników. Dodatkowo GROUP BY i ORDER BY uzyskują lepszą wydajność dzięki indeksom.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F821752-2E72-E89D-FB92-9A512E89A437}"/>
              </a:ext>
            </a:extLst>
          </p:cNvPr>
          <p:cNvSpPr txBox="1"/>
          <p:nvPr/>
        </p:nvSpPr>
        <p:spPr>
          <a:xfrm>
            <a:off x="5033252" y="69668"/>
            <a:ext cx="418041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EXPLAIN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ANALYZE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MATERIALIZED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id)</a:t>
            </a:r>
            <a:endParaRPr lang="pl-PL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orders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08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2D70-2132-C32B-DAFD-E2C26D11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A7C12465-E488-7CC4-4C3D-D06D27F34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7E7E249-48D7-9FF0-BE27-312A3E24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Analiza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D209135-A0DB-358F-CB12-AC28798AEB6F}"/>
              </a:ext>
            </a:extLst>
          </p:cNvPr>
          <p:cNvSpPr txBox="1"/>
          <p:nvPr/>
        </p:nvSpPr>
        <p:spPr>
          <a:xfrm>
            <a:off x="3627121" y="1720840"/>
            <a:ext cx="84690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900" dirty="0" err="1">
                <a:latin typeface="Aptos Mono" panose="020F0502020204030204" pitchFamily="49" charset="0"/>
              </a:rPr>
              <a:t>GroupAggregate</a:t>
            </a:r>
            <a:r>
              <a:rPr lang="pl-PL" sz="900" dirty="0">
                <a:latin typeface="Aptos Mono" panose="020F0502020204030204" pitchFamily="49" charset="0"/>
              </a:rPr>
              <a:t> 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=2054.84..16699.38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=12)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=0.036..155.654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</a:t>
            </a:r>
            <a:r>
              <a:rPr lang="pl-PL" sz="900" dirty="0" err="1">
                <a:latin typeface="Aptos Mono" panose="020F0502020204030204" pitchFamily="49" charset="0"/>
              </a:rPr>
              <a:t>Group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Key</a:t>
            </a:r>
            <a:r>
              <a:rPr lang="pl-PL" sz="900" dirty="0">
                <a:latin typeface="Aptos Mono" panose="020F0502020204030204" pitchFamily="49" charset="0"/>
              </a:rPr>
              <a:t>: 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endParaRPr lang="pl-PL" sz="900" dirty="0">
              <a:latin typeface="Aptos Mono" panose="020F0502020204030204" pitchFamily="49" charset="0"/>
            </a:endParaRP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CTE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-&gt; Index </a:t>
            </a:r>
            <a:r>
              <a:rPr lang="pl-PL" sz="900" dirty="0" err="1">
                <a:latin typeface="Aptos Mono" panose="020F0502020204030204" pitchFamily="49" charset="0"/>
              </a:rPr>
              <a:t>Only</a:t>
            </a:r>
            <a:r>
              <a:rPr lang="pl-PL" sz="900" dirty="0">
                <a:latin typeface="Aptos Mono" panose="020F0502020204030204" pitchFamily="49" charset="0"/>
              </a:rPr>
              <a:t>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customers</a:t>
            </a:r>
            <a:r>
              <a:rPr lang="pl-PL" sz="900" dirty="0">
                <a:latin typeface="Aptos Mono" panose="020F0502020204030204" pitchFamily="49" charset="0"/>
              </a:rPr>
              <a:t> c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=0.29..2052.29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=0.015..7.759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  </a:t>
            </a:r>
            <a:r>
              <a:rPr lang="pl-PL" sz="900" dirty="0" err="1">
                <a:latin typeface="Aptos Mono" panose="020F0502020204030204" pitchFamily="49" charset="0"/>
              </a:rPr>
              <a:t>Heap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Fetches</a:t>
            </a:r>
            <a:r>
              <a:rPr lang="pl-PL" sz="900" dirty="0">
                <a:latin typeface="Aptos Mono" panose="020F0502020204030204" pitchFamily="49" charset="0"/>
              </a:rPr>
              <a:t>: 0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-&gt;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Semi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Join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=2.55..12146.46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=166709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=0.027..125.817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r>
              <a:rPr lang="pl-PL" sz="900" dirty="0">
                <a:latin typeface="Aptos Mono" panose="020F0502020204030204" pitchFamily="49" charset="0"/>
              </a:rPr>
              <a:t>       </a:t>
            </a:r>
            <a:r>
              <a:rPr lang="pl-PL" sz="900" dirty="0" err="1">
                <a:latin typeface="Aptos Mono" panose="020F0502020204030204" pitchFamily="49" charset="0"/>
              </a:rPr>
              <a:t>Merge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Cond</a:t>
            </a:r>
            <a:r>
              <a:rPr lang="pl-PL" sz="900" dirty="0">
                <a:latin typeface="Aptos Mono" panose="020F0502020204030204" pitchFamily="49" charset="0"/>
              </a:rPr>
              <a:t>: (</a:t>
            </a:r>
            <a:r>
              <a:rPr lang="pl-PL" sz="900" dirty="0" err="1">
                <a:latin typeface="Aptos Mono" panose="020F0502020204030204" pitchFamily="49" charset="0"/>
              </a:rPr>
              <a:t>o.customer_id</a:t>
            </a:r>
            <a:r>
              <a:rPr lang="pl-PL" sz="900" dirty="0">
                <a:latin typeface="Aptos Mono" panose="020F0502020204030204" pitchFamily="49" charset="0"/>
              </a:rPr>
              <a:t> = request.id)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Index Scan </a:t>
            </a:r>
            <a:r>
              <a:rPr lang="pl-PL" sz="900" dirty="0" err="1">
                <a:latin typeface="Aptos Mono" panose="020F0502020204030204" pitchFamily="49" charset="0"/>
              </a:rPr>
              <a:t>using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co_ix</a:t>
            </a:r>
            <a:r>
              <a:rPr lang="pl-PL" sz="900" dirty="0">
                <a:latin typeface="Aptos Mono" panose="020F0502020204030204" pitchFamily="49" charset="0"/>
              </a:rPr>
              <a:t> on </a:t>
            </a:r>
            <a:r>
              <a:rPr lang="pl-PL" sz="900" dirty="0" err="1">
                <a:latin typeface="Aptos Mono" panose="020F0502020204030204" pitchFamily="49" charset="0"/>
              </a:rPr>
              <a:t>orders</a:t>
            </a:r>
            <a:r>
              <a:rPr lang="pl-PL" sz="900" dirty="0">
                <a:latin typeface="Aptos Mono" panose="020F0502020204030204" pitchFamily="49" charset="0"/>
              </a:rPr>
              <a:t> o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=0.57..4897548.71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=150100000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=8)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=0.007..61.174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=300001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dirty="0">
                <a:latin typeface="Aptos Mono" panose="020F0502020204030204" pitchFamily="49" charset="0"/>
              </a:rPr>
              <a:t>       -&gt; CTE Scan on </a:t>
            </a:r>
            <a:r>
              <a:rPr lang="pl-PL" sz="900" dirty="0" err="1">
                <a:latin typeface="Aptos Mono" panose="020F0502020204030204" pitchFamily="49" charset="0"/>
              </a:rPr>
              <a:t>request</a:t>
            </a:r>
            <a:r>
              <a:rPr lang="pl-PL" sz="900" dirty="0">
                <a:latin typeface="Aptos Mono" panose="020F0502020204030204" pitchFamily="49" charset="0"/>
              </a:rPr>
              <a:t> (</a:t>
            </a:r>
            <a:r>
              <a:rPr lang="pl-PL" sz="900" dirty="0" err="1">
                <a:latin typeface="Aptos Mono" panose="020F0502020204030204" pitchFamily="49" charset="0"/>
              </a:rPr>
              <a:t>cost</a:t>
            </a:r>
            <a:r>
              <a:rPr lang="pl-PL" sz="900" dirty="0">
                <a:latin typeface="Aptos Mono" panose="020F0502020204030204" pitchFamily="49" charset="0"/>
              </a:rPr>
              <a:t>=0.00..2000.00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width</a:t>
            </a:r>
            <a:r>
              <a:rPr lang="pl-PL" sz="900" dirty="0">
                <a:latin typeface="Aptos Mono" panose="020F0502020204030204" pitchFamily="49" charset="0"/>
              </a:rPr>
              <a:t>=4) (</a:t>
            </a:r>
            <a:r>
              <a:rPr lang="pl-PL" sz="900" dirty="0" err="1">
                <a:latin typeface="Aptos Mono" panose="020F0502020204030204" pitchFamily="49" charset="0"/>
              </a:rPr>
              <a:t>actual</a:t>
            </a:r>
            <a:r>
              <a:rPr lang="pl-PL" sz="900" dirty="0">
                <a:latin typeface="Aptos Mono" panose="020F0502020204030204" pitchFamily="49" charset="0"/>
              </a:rPr>
              <a:t> </a:t>
            </a:r>
            <a:r>
              <a:rPr lang="pl-PL" sz="900" dirty="0" err="1">
                <a:latin typeface="Aptos Mono" panose="020F0502020204030204" pitchFamily="49" charset="0"/>
              </a:rPr>
              <a:t>time</a:t>
            </a:r>
            <a:r>
              <a:rPr lang="pl-PL" sz="900" dirty="0">
                <a:latin typeface="Aptos Mono" panose="020F0502020204030204" pitchFamily="49" charset="0"/>
              </a:rPr>
              <a:t>=0.017..24.345 </a:t>
            </a:r>
            <a:r>
              <a:rPr lang="pl-PL" sz="900" dirty="0" err="1">
                <a:latin typeface="Aptos Mono" panose="020F0502020204030204" pitchFamily="49" charset="0"/>
              </a:rPr>
              <a:t>rows</a:t>
            </a:r>
            <a:r>
              <a:rPr lang="pl-PL" sz="900" dirty="0">
                <a:latin typeface="Aptos Mono" panose="020F0502020204030204" pitchFamily="49" charset="0"/>
              </a:rPr>
              <a:t>=100000 </a:t>
            </a:r>
            <a:r>
              <a:rPr lang="pl-PL" sz="900" dirty="0" err="1">
                <a:latin typeface="Aptos Mono" panose="020F0502020204030204" pitchFamily="49" charset="0"/>
              </a:rPr>
              <a:t>loops</a:t>
            </a:r>
            <a:r>
              <a:rPr lang="pl-PL" sz="900" dirty="0">
                <a:latin typeface="Aptos Mono" panose="020F0502020204030204" pitchFamily="49" charset="0"/>
              </a:rPr>
              <a:t>=1)</a:t>
            </a:r>
          </a:p>
          <a:p>
            <a:endParaRPr lang="pl-PL" sz="900" dirty="0">
              <a:latin typeface="Aptos Mono" panose="020F0502020204030204" pitchFamily="49" charset="0"/>
            </a:endParaRPr>
          </a:p>
          <a:p>
            <a:r>
              <a:rPr lang="pl-PL" sz="900" b="1" dirty="0">
                <a:latin typeface="Aptos Mono" panose="020F0502020204030204" pitchFamily="49" charset="0"/>
              </a:rPr>
              <a:t>Planning Time: 0.171 ms</a:t>
            </a:r>
          </a:p>
          <a:p>
            <a:r>
              <a:rPr lang="pl-PL" sz="900" b="1" dirty="0" err="1">
                <a:latin typeface="Aptos Mono" panose="020F0502020204030204" pitchFamily="49" charset="0"/>
              </a:rPr>
              <a:t>Execution</a:t>
            </a:r>
            <a:r>
              <a:rPr lang="pl-PL" sz="900" b="1" dirty="0">
                <a:latin typeface="Aptos Mono" panose="020F0502020204030204" pitchFamily="49" charset="0"/>
              </a:rPr>
              <a:t> Time: 158.362 ms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FD52A5B-760F-C0CF-D5DC-BA515B8EDFAB}"/>
              </a:ext>
            </a:extLst>
          </p:cNvPr>
          <p:cNvSpPr txBox="1"/>
          <p:nvPr/>
        </p:nvSpPr>
        <p:spPr>
          <a:xfrm>
            <a:off x="3594463" y="4772523"/>
            <a:ext cx="8351520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Czas wykonania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Planning Time oraz </a:t>
            </a:r>
            <a:r>
              <a:rPr lang="pl-PL" sz="1400" dirty="0" err="1"/>
              <a:t>Execution</a:t>
            </a:r>
            <a:r>
              <a:rPr lang="pl-PL" sz="1400" dirty="0"/>
              <a:t> Time pokazują rzeczywiste czasy wygenerowania i wykonania planu. Warto porównywać planowane (</a:t>
            </a:r>
            <a:r>
              <a:rPr lang="pl-PL" sz="1400" dirty="0" err="1"/>
              <a:t>cost</a:t>
            </a:r>
            <a:r>
              <a:rPr lang="pl-PL" sz="1400" dirty="0"/>
              <a:t>) i rzeczywiste (</a:t>
            </a:r>
            <a:r>
              <a:rPr lang="pl-PL" sz="1400" dirty="0" err="1"/>
              <a:t>actual</a:t>
            </a:r>
            <a:r>
              <a:rPr lang="pl-PL" sz="1400" dirty="0"/>
              <a:t> </a:t>
            </a:r>
            <a:r>
              <a:rPr lang="pl-PL" sz="1400" dirty="0" err="1"/>
              <a:t>time</a:t>
            </a:r>
            <a:r>
              <a:rPr lang="pl-PL" sz="1400" dirty="0"/>
              <a:t>) wartości, aby znaleźć rozbieżności i potencjalne miejsca wymagające optymalizacji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FA559B0-4D75-D3CC-4103-63CE561A080E}"/>
              </a:ext>
            </a:extLst>
          </p:cNvPr>
          <p:cNvSpPr txBox="1"/>
          <p:nvPr/>
        </p:nvSpPr>
        <p:spPr>
          <a:xfrm>
            <a:off x="5033252" y="69668"/>
            <a:ext cx="418041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EXPLAIN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ANALYZE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MATERIALIZED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customers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id)</a:t>
            </a:r>
            <a:endParaRPr lang="pl-PL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order_id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orders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id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request)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GROUP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customer_id</a:t>
            </a:r>
            <a:r>
              <a:rPr lang="en-US" sz="11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60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6097-42DF-8DD0-56F7-0F979D87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60E6BF55-9F87-1EE4-E780-A4F4021E2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4D56B84-534F-250E-852F-891624659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Plany zapytań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600" dirty="0">
                <a:solidFill>
                  <a:srgbClr val="FFFFFF"/>
                </a:solidFill>
              </a:rPr>
              <a:t>-</a:t>
            </a:r>
            <a:br>
              <a:rPr lang="pl-PL" sz="26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na co zwracać uwagę</a:t>
            </a:r>
            <a:endParaRPr lang="pl-PL" sz="2600" dirty="0">
              <a:solidFill>
                <a:srgbClr val="FFFFFF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B5981DD-1D72-F130-A0D1-BF55DFD45300}"/>
              </a:ext>
            </a:extLst>
          </p:cNvPr>
          <p:cNvSpPr txBox="1"/>
          <p:nvPr/>
        </p:nvSpPr>
        <p:spPr>
          <a:xfrm>
            <a:off x="3648891" y="911323"/>
            <a:ext cx="8303623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Na co zwracać uwagę w analizie EXPLAIN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Różnica między szacowaną liczbą wierszy a rzeczywistą </a:t>
            </a:r>
            <a:r>
              <a:rPr lang="pl-PL" dirty="0"/>
              <a:t>— duże rozbieżności wpływają na wybór strategii skanów, </a:t>
            </a:r>
            <a:r>
              <a:rPr lang="pl-PL" dirty="0" err="1"/>
              <a:t>JOINów</a:t>
            </a:r>
            <a:r>
              <a:rPr lang="pl-PL" dirty="0"/>
              <a:t>, sortowań. Powtarzająca się niezgodność sugeruje potrzebę aktualizacji statystyk (ANALYZE).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Typy skanów </a:t>
            </a:r>
            <a:r>
              <a:rPr lang="pl-PL" dirty="0"/>
              <a:t>— czy są preferowane Index/Index </a:t>
            </a:r>
            <a:r>
              <a:rPr lang="pl-PL" dirty="0" err="1"/>
              <a:t>Only</a:t>
            </a:r>
            <a:r>
              <a:rPr lang="pl-PL" dirty="0"/>
              <a:t> Scan zamiast </a:t>
            </a:r>
            <a:r>
              <a:rPr lang="pl-PL" dirty="0" err="1"/>
              <a:t>Seq</a:t>
            </a:r>
            <a:r>
              <a:rPr lang="pl-PL" dirty="0"/>
              <a:t> Scan przy dużych tabelach.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Operacje kosztowne czasowo </a:t>
            </a:r>
            <a:r>
              <a:rPr lang="pl-PL" dirty="0"/>
              <a:t>— tam, gdzie "</a:t>
            </a:r>
            <a:r>
              <a:rPr lang="pl-PL" dirty="0" err="1"/>
              <a:t>actual</a:t>
            </a:r>
            <a:r>
              <a:rPr lang="pl-PL" dirty="0"/>
              <a:t> </a:t>
            </a:r>
            <a:r>
              <a:rPr lang="pl-PL" dirty="0" err="1"/>
              <a:t>time</a:t>
            </a:r>
            <a:r>
              <a:rPr lang="pl-PL" dirty="0"/>
              <a:t>" i "</a:t>
            </a:r>
            <a:r>
              <a:rPr lang="pl-PL" dirty="0" err="1"/>
              <a:t>loops</a:t>
            </a:r>
            <a:r>
              <a:rPr lang="pl-PL" dirty="0"/>
              <a:t>" są wysokie (np. JOIN lub GROUP BY), warto zastanowić się nad nowymi indeksami, optymalizacją SQL lub podziałem zapytania.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Użycie CTE </a:t>
            </a:r>
            <a:r>
              <a:rPr lang="pl-PL" b="1" dirty="0" err="1"/>
              <a:t>Materialized</a:t>
            </a:r>
            <a:r>
              <a:rPr lang="pl-PL" b="1" dirty="0"/>
              <a:t> </a:t>
            </a:r>
            <a:r>
              <a:rPr lang="pl-PL" dirty="0"/>
              <a:t>— </a:t>
            </a:r>
            <a:r>
              <a:rPr lang="pl-PL" dirty="0" err="1"/>
              <a:t>PostgreSQL</a:t>
            </a:r>
            <a:r>
              <a:rPr lang="pl-PL" dirty="0"/>
              <a:t> 17 poprawił wydajność CTE, ale bez indeksacji w podzapytaniach może być kosztowny, jeśli nie jest efektywnie przetwarzany.</a:t>
            </a:r>
          </a:p>
        </p:txBody>
      </p:sp>
    </p:spTree>
    <p:extLst>
      <p:ext uri="{BB962C8B-B14F-4D97-AF65-F5344CB8AC3E}">
        <p14:creationId xmlns:p14="http://schemas.microsoft.com/office/powerpoint/2010/main" val="301817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AA3E-61CA-C79A-BD40-44C28004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A332F9D2-BEA6-D36D-7656-4C9585860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0594E7C-E98C-3A3A-92A1-3C112BD3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TOAST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990F1D9-7C6B-2098-091B-07E75ABA57F0}"/>
              </a:ext>
            </a:extLst>
          </p:cNvPr>
          <p:cNvSpPr txBox="1"/>
          <p:nvPr/>
        </p:nvSpPr>
        <p:spPr>
          <a:xfrm>
            <a:off x="3666308" y="2117460"/>
            <a:ext cx="8303623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TOAST (The </a:t>
            </a:r>
            <a:r>
              <a:rPr lang="pl-PL" b="1" dirty="0" err="1"/>
              <a:t>Oversized-Attribute</a:t>
            </a:r>
            <a:r>
              <a:rPr lang="pl-PL" b="1" dirty="0"/>
              <a:t> Storage </a:t>
            </a:r>
            <a:r>
              <a:rPr lang="pl-PL" b="1" dirty="0" err="1"/>
              <a:t>Technique</a:t>
            </a:r>
            <a:r>
              <a:rPr lang="pl-PL" b="1" dirty="0"/>
              <a:t>) </a:t>
            </a:r>
            <a:r>
              <a:rPr lang="pl-PL" dirty="0"/>
              <a:t>to mechanizm w </a:t>
            </a:r>
            <a:r>
              <a:rPr lang="pl-PL" dirty="0" err="1"/>
              <a:t>PostgreSQL</a:t>
            </a:r>
            <a:r>
              <a:rPr lang="pl-PL" dirty="0"/>
              <a:t>, który pozwala na efektywne przechowywanie bardzo dużych wartości pojedynczych kolumn (np. długich tekstów, dużych obiektów binarnych), które nie mieszczą się w standardowym rozmiarze strony danych (zwykle 8 </a:t>
            </a:r>
            <a:r>
              <a:rPr lang="pl-PL" dirty="0" err="1"/>
              <a:t>kB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344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7FA4-C641-4E2D-9372-43C2C8C5B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ECE802FF-A1F6-4DC4-B4FD-AE04E5E28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CFBC97-BBEE-C697-C34F-13714EF7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TOAST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7CD62AD-71E2-541C-2D49-E89CF2433974}"/>
              </a:ext>
            </a:extLst>
          </p:cNvPr>
          <p:cNvSpPr txBox="1"/>
          <p:nvPr/>
        </p:nvSpPr>
        <p:spPr>
          <a:xfrm>
            <a:off x="3627119" y="1155163"/>
            <a:ext cx="8303623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Jak działa TOAST?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 err="1"/>
              <a:t>PostgreSQL</a:t>
            </a:r>
            <a:r>
              <a:rPr lang="pl-PL" dirty="0"/>
              <a:t> ma ograniczenie, że pojedynczy wiersz danych nie może zajmować więcej niż rozmiar jednej strony (ok. 8 </a:t>
            </a:r>
            <a:r>
              <a:rPr lang="pl-PL" dirty="0" err="1"/>
              <a:t>kB</a:t>
            </a:r>
            <a:r>
              <a:rPr lang="pl-PL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Jeśli wartość kolumny jest większa niż około 2 </a:t>
            </a:r>
            <a:r>
              <a:rPr lang="pl-PL" dirty="0" err="1"/>
              <a:t>kB</a:t>
            </a:r>
            <a:r>
              <a:rPr lang="pl-PL" dirty="0"/>
              <a:t> (parametr TOAST_TUPLE_THRESHOLD), mechanizm TOAST automatycznie: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próbuje skompresować dane,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jeśli to nie wystarczy, dzieli je na mniejsze kawałki (</a:t>
            </a:r>
            <a:r>
              <a:rPr lang="pl-PL" dirty="0" err="1"/>
              <a:t>chunky</a:t>
            </a:r>
            <a:r>
              <a:rPr lang="pl-PL" dirty="0"/>
              <a:t>),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te kawałki są przechowywane "na zewnątrz" w specjalnej, powiązanej z tabelą, tabeli TOAST.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W oryginalnej tabeli pozostaje tylko wskaźnik do tych fragmentów.</a:t>
            </a:r>
          </a:p>
        </p:txBody>
      </p:sp>
    </p:spTree>
    <p:extLst>
      <p:ext uri="{BB962C8B-B14F-4D97-AF65-F5344CB8AC3E}">
        <p14:creationId xmlns:p14="http://schemas.microsoft.com/office/powerpoint/2010/main" val="824502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2FCE-127D-A0B3-FBC8-A635DD55B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6E86631E-0645-4D59-DB6E-63C23C8E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D10BB05-E19C-11E5-6A61-F14D344EC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pl-PL" sz="2600" dirty="0">
                <a:solidFill>
                  <a:srgbClr val="FFFFFF"/>
                </a:solidFill>
              </a:rPr>
              <a:t>TOAST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3D3E018-0329-A914-5D17-301A32D09ADE}"/>
              </a:ext>
            </a:extLst>
          </p:cNvPr>
          <p:cNvSpPr txBox="1"/>
          <p:nvPr/>
        </p:nvSpPr>
        <p:spPr>
          <a:xfrm>
            <a:off x="3627119" y="1142100"/>
            <a:ext cx="8303623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Zastosowanie i korzyści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Dzięki temu znacznie zmniejsza się rozmiar wiersza w głównej tabeli;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Zmniejsza liczbę operacji we/wy na dużych danych, bo dostęp do dużych pól jest leniwy i dokonuje się ich tylko, gdy są potrzebne;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Pozwala na przechowywanie bardzo dużych wartości typu </a:t>
            </a:r>
            <a:r>
              <a:rPr lang="pl-PL" dirty="0" err="1"/>
              <a:t>text</a:t>
            </a:r>
            <a:r>
              <a:rPr lang="pl-PL" dirty="0"/>
              <a:t>, </a:t>
            </a:r>
            <a:r>
              <a:rPr lang="pl-PL" dirty="0" err="1"/>
              <a:t>bytea</a:t>
            </a:r>
            <a:r>
              <a:rPr lang="pl-PL" dirty="0"/>
              <a:t>, </a:t>
            </a:r>
            <a:r>
              <a:rPr lang="pl-PL" dirty="0" err="1"/>
              <a:t>jsonb</a:t>
            </a:r>
            <a:r>
              <a:rPr lang="pl-PL" dirty="0"/>
              <a:t>, </a:t>
            </a:r>
            <a:r>
              <a:rPr lang="pl-PL" dirty="0" err="1"/>
              <a:t>varchar</a:t>
            </a:r>
            <a:r>
              <a:rPr lang="pl-PL" dirty="0"/>
              <a:t>(n), a także niektórych typów rozszerzonych;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dirty="0"/>
              <a:t>Automatyczne, transparentne dla użytkownika.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TOAST jest ważnym elementem fizycznej architektury danych w </a:t>
            </a:r>
            <a:r>
              <a:rPr lang="pl-PL" dirty="0" err="1"/>
              <a:t>PostgreSQL</a:t>
            </a:r>
            <a:r>
              <a:rPr lang="pl-PL" dirty="0"/>
              <a:t> i jest domyślnie włączony dla większości typów danych o zmiennej długości, które mogą przekroczyć limit rozmiaru strony</a:t>
            </a:r>
          </a:p>
        </p:txBody>
      </p:sp>
    </p:spTree>
    <p:extLst>
      <p:ext uri="{BB962C8B-B14F-4D97-AF65-F5344CB8AC3E}">
        <p14:creationId xmlns:p14="http://schemas.microsoft.com/office/powerpoint/2010/main" val="251441714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3034</Words>
  <Application>Microsoft Office PowerPoint</Application>
  <PresentationFormat>Panoramiczny</PresentationFormat>
  <Paragraphs>242</Paragraphs>
  <Slides>22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22</vt:i4>
      </vt:variant>
    </vt:vector>
  </HeadingPairs>
  <TitlesOfParts>
    <vt:vector size="30" baseType="lpstr">
      <vt:lpstr>Aptos Mono</vt:lpstr>
      <vt:lpstr>Arial</vt:lpstr>
      <vt:lpstr>Calibri</vt:lpstr>
      <vt:lpstr>Calibri Light</vt:lpstr>
      <vt:lpstr>Courier New</vt:lpstr>
      <vt:lpstr>fkGroteskNeue</vt:lpstr>
      <vt:lpstr>var(--font-berkeley-mono)</vt:lpstr>
      <vt:lpstr>Motyw pakietu Office</vt:lpstr>
      <vt:lpstr>Indeksy</vt:lpstr>
      <vt:lpstr>Explain vs Analyze</vt:lpstr>
      <vt:lpstr>Explain vs Analyze</vt:lpstr>
      <vt:lpstr>Explain vs Analyze</vt:lpstr>
      <vt:lpstr>Typy indeksów - B-tree</vt:lpstr>
      <vt:lpstr>Typy indeksów - Hash</vt:lpstr>
      <vt:lpstr>Typy indeksów - GIN</vt:lpstr>
      <vt:lpstr>Typy indeksów - BRIN</vt:lpstr>
      <vt:lpstr>Typy indeksów - GIST</vt:lpstr>
      <vt:lpstr>Plany zapytań</vt:lpstr>
      <vt:lpstr>Plany zapytań - struktura</vt:lpstr>
      <vt:lpstr>Plany zapytań - kluczowe elementy</vt:lpstr>
      <vt:lpstr>Plany zapytań - optymalizacja</vt:lpstr>
      <vt:lpstr>Plany zapytań - Analiza</vt:lpstr>
      <vt:lpstr>Plany zapytań - Analiza</vt:lpstr>
      <vt:lpstr>Plany zapytań - Analiza</vt:lpstr>
      <vt:lpstr>Plany zapytań - Analiza</vt:lpstr>
      <vt:lpstr>Plany zapytań - Analiza</vt:lpstr>
      <vt:lpstr>Plany zapytań - na co zwracać uwagę</vt:lpstr>
      <vt:lpstr>TOAST</vt:lpstr>
      <vt:lpstr>TOAST</vt:lpstr>
      <vt:lpstr>TOAST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Indeksy</dc:title>
  <dc:creator>Przemyslaw Starosta</dc:creator>
  <cp:lastModifiedBy>Przemysław Starosta</cp:lastModifiedBy>
  <cp:revision>4</cp:revision>
  <dcterms:created xsi:type="dcterms:W3CDTF">2019-12-03T07:23:36Z</dcterms:created>
  <dcterms:modified xsi:type="dcterms:W3CDTF">2026-09-14T08:02:26Z</dcterms:modified>
</cp:coreProperties>
</file>